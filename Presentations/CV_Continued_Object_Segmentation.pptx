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 id="214748368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Lst>
  <p:sldSz cy="5143500" cx="9144000"/>
  <p:notesSz cx="6858000" cy="9144000"/>
  <p:embeddedFontLst>
    <p:embeddedFont>
      <p:font typeface="Roboto"/>
      <p:regular r:id="rId107"/>
      <p:bold r:id="rId108"/>
      <p:italic r:id="rId109"/>
      <p:boldItalic r:id="rId110"/>
    </p:embeddedFont>
    <p:embeddedFont>
      <p:font typeface="Montserrat"/>
      <p:regular r:id="rId111"/>
      <p:bold r:id="rId112"/>
      <p:italic r:id="rId113"/>
      <p:boldItalic r:id="rId114"/>
    </p:embeddedFont>
    <p:embeddedFont>
      <p:font typeface="Open Sans"/>
      <p:regular r:id="rId115"/>
      <p:bold r:id="rId116"/>
      <p:italic r:id="rId117"/>
      <p:boldItalic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Roboto-regular.fntdata"/><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font" Target="fonts/Roboto-italic.fntdata"/><Relationship Id="rId108" Type="http://schemas.openxmlformats.org/officeDocument/2006/relationships/font" Target="fonts/Roboto-bold.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OpenSans-boldItalic.fntdata"/><Relationship Id="rId117" Type="http://schemas.openxmlformats.org/officeDocument/2006/relationships/font" Target="fonts/OpenSans-italic.fntdata"/><Relationship Id="rId116" Type="http://schemas.openxmlformats.org/officeDocument/2006/relationships/font" Target="fonts/OpenSans-bold.fntdata"/><Relationship Id="rId115" Type="http://schemas.openxmlformats.org/officeDocument/2006/relationships/font" Target="fonts/OpenSans-regular.fntdata"/><Relationship Id="rId15" Type="http://schemas.openxmlformats.org/officeDocument/2006/relationships/slide" Target="slides/slide8.xml"/><Relationship Id="rId110" Type="http://schemas.openxmlformats.org/officeDocument/2006/relationships/font" Target="fonts/Roboto-boldItalic.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Montserrat-boldItalic.fntdata"/><Relationship Id="rId18" Type="http://schemas.openxmlformats.org/officeDocument/2006/relationships/slide" Target="slides/slide11.xml"/><Relationship Id="rId113" Type="http://schemas.openxmlformats.org/officeDocument/2006/relationships/font" Target="fonts/Montserrat-italic.fntdata"/><Relationship Id="rId112" Type="http://schemas.openxmlformats.org/officeDocument/2006/relationships/font" Target="fonts/Montserrat-bold.fntdata"/><Relationship Id="rId111" Type="http://schemas.openxmlformats.org/officeDocument/2006/relationships/font" Target="fonts/Montserrat-regular.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327cdf0e8_0_25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4327cdf0e8_0_2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44cc2381f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44cc2381f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2a887a6b0a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2a887a6b0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fa905dad6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fa905dad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16874b51f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16874b51f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c63e4fd20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c63e4fd20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63e4fd20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c63e4fd20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285cef7d08_0_0: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2285cef7d0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285cef7d08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285cef7d08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285cef7d08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285cef7d08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285cef7d08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285cef7d08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285cef7d08_0_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2285cef7d08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285cef7d08_0_12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2285cef7d08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c63e4fd205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c63e4fd205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c63e4fd20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c63e4fd205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29064bd864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29064bd864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c63e4fd20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c63e4fd20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c63e4fd20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c63e4fd20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c63e4fd20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c63e4fd20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c63e4fd20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c63e4fd20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c63e4fd205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c63e4fd20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c63e4fd20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c63e4fd20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c63e4fd205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c63e4fd205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c63e4fd20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c63e4fd20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Like complex culinary concoctions, written recipes can only get one so far. The skill in the deep learning world, like in the culinary one, lies in the ability to improvise and intuit slight tweaks that make the difference between something that merely somewhat works and a seminal advance.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c63e4fd2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c63e4fd2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29064bd864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29064bd864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2a05fe9d7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22a05fe9d7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2a05fe9d70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2a05fe9d70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29064bd864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29064bd864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29064bd864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29064bd864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29064bd864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29064bd864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29064bd864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29064bd864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29064bd864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29064bd864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2a05fe9d7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2a05fe9d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29064bd864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229064bd864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29064bd864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29064bd864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29064bd864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29064bd864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29064bd864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29064bd864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29064bd864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229064bd864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2a05fe9d7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2a05fe9d7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29064bd864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29064bd864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29064bd864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29064bd864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29064bd864_0_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29064bd864_0_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2a05fe9d7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2a05fe9d7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2a05fe9d7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2a05fe9d7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2a05fe9d7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2a05fe9d7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2a05fe9d70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2a05fe9d70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2a05fe9d7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22a05fe9d7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2a05fe9d7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2a05fe9d7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2a05fe9d7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2a05fe9d7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2a05fe9d70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22a05fe9d70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2a05fe9d7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22a05fe9d7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2a05fe9d70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2a05fe9d70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2a05fe9d7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22a05fe9d7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22a05fe9d7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22a05fe9d7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2a05fe9d7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2a05fe9d7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2a05fe9d7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2a05fe9d7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2a8fe812e1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2a8fe812e1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2a887a6b0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22a887a6b0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2a05fe9d7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2a05fe9d7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2a8fe812e1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2a8fe812e1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2a8fe812e1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2a8fe812e1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2a8fe812e1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2a8fe812e1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2a8fe812e1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2a8fe812e1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2a8fe812e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2a8fe812e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6ee5c749c8_0_64:notes"/>
          <p:cNvSpPr/>
          <p:nvPr>
            <p:ph idx="2" type="sldImg"/>
          </p:nvPr>
        </p:nvSpPr>
        <p:spPr>
          <a:xfrm>
            <a:off x="3810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6ee5c749c8_0_6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6ee5c749c8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6ee5c749c8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6ee5c749c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6ee5c749c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6ee5c749c8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6ee5c749c8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6ee5c749c8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6ee5c749c8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44cc2381fa_0_0:notes"/>
          <p:cNvSpPr/>
          <p:nvPr>
            <p:ph idx="2" type="sldImg"/>
          </p:nvPr>
        </p:nvSpPr>
        <p:spPr>
          <a:xfrm>
            <a:off x="3810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44cc2381fa_0_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44cc2381fa_0_17:notes"/>
          <p:cNvSpPr/>
          <p:nvPr>
            <p:ph idx="2" type="sldImg"/>
          </p:nvPr>
        </p:nvSpPr>
        <p:spPr>
          <a:xfrm>
            <a:off x="3810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44cc2381fa_0_17: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44cc2381fa_0_9:notes"/>
          <p:cNvSpPr/>
          <p:nvPr>
            <p:ph idx="2" type="sldImg"/>
          </p:nvPr>
        </p:nvSpPr>
        <p:spPr>
          <a:xfrm>
            <a:off x="381000"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44cc2381fa_0_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4327cdf0e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4327cdf0e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4327cdf0e8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4327cdf0e8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4327cdf0e8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4327cdf0e8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4327cdf0e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4327cdf0e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4327cdf0e8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4327cdf0e8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6ee5c749c8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6ee5c749c8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4327cdf0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4327cdf0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4327cdf0e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4327cdf0e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4327cdf0e8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4327cdf0e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4327cdf0e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4327cdf0e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4327cdf0e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4327cdf0e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4327cdf0e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34327cdf0e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4327cdf0e8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34327cdf0e8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4327cdf0e8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34327cdf0e8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4327cdf0e8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4327cdf0e8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4327cdf0e8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34327cdf0e8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6ee5c749c8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36ee5c749c8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6ee5c749c8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6ee5c749c8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6ee5c749c8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6ee5c749c8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6ee5c749c8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36ee5c749c8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6ee5c749c8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36ee5c749c8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6ee5c749c8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36ee5c749c8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6ee5c749c8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6ee5c749c8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6ee5c749c8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36ee5c749c8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6ee5c749c8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36ee5c749c8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265d111e05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2265d111e05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29450" lIns="58925" spcFirstLastPara="1" rIns="58925" wrap="square" tIns="29450">
            <a:normAutofit/>
          </a:bodyPr>
          <a:lstStyle>
            <a:lvl1pPr lvl="0" rtl="0" algn="l">
              <a:lnSpc>
                <a:spcPct val="90000"/>
              </a:lnSpc>
              <a:spcBef>
                <a:spcPts val="0"/>
              </a:spcBef>
              <a:spcAft>
                <a:spcPts val="0"/>
              </a:spcAft>
              <a:buClr>
                <a:schemeClr val="dk1"/>
              </a:buClr>
              <a:buSzPts val="12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13"/>
          <p:cNvSpPr txBox="1"/>
          <p:nvPr>
            <p:ph idx="1" type="body"/>
          </p:nvPr>
        </p:nvSpPr>
        <p:spPr>
          <a:xfrm>
            <a:off x="628650" y="1369218"/>
            <a:ext cx="7886700" cy="3263700"/>
          </a:xfrm>
          <a:prstGeom prst="rect">
            <a:avLst/>
          </a:prstGeom>
          <a:noFill/>
          <a:ln>
            <a:noFill/>
          </a:ln>
        </p:spPr>
        <p:txBody>
          <a:bodyPr anchorCtr="0" anchor="t" bIns="29450" lIns="58925" spcFirstLastPara="1" rIns="58925" wrap="square" tIns="29450">
            <a:normAutofit/>
          </a:bodyPr>
          <a:lstStyle>
            <a:lvl1pPr indent="-304800" lvl="0" marL="457200" rtl="0" algn="l">
              <a:lnSpc>
                <a:spcPct val="90000"/>
              </a:lnSpc>
              <a:spcBef>
                <a:spcPts val="700"/>
              </a:spcBef>
              <a:spcAft>
                <a:spcPts val="0"/>
              </a:spcAft>
              <a:buClr>
                <a:schemeClr val="dk1"/>
              </a:buClr>
              <a:buSzPts val="1200"/>
              <a:buChar char="●"/>
              <a:defRPr/>
            </a:lvl1pPr>
            <a:lvl2pPr indent="-304800" lvl="1" marL="914400" rtl="0" algn="l">
              <a:lnSpc>
                <a:spcPct val="90000"/>
              </a:lnSpc>
              <a:spcBef>
                <a:spcPts val="1200"/>
              </a:spcBef>
              <a:spcAft>
                <a:spcPts val="0"/>
              </a:spcAft>
              <a:buClr>
                <a:schemeClr val="dk1"/>
              </a:buClr>
              <a:buSzPts val="1200"/>
              <a:buChar char="○"/>
              <a:defRPr/>
            </a:lvl2pPr>
            <a:lvl3pPr indent="-304800" lvl="2" marL="1371600" rtl="0" algn="l">
              <a:lnSpc>
                <a:spcPct val="90000"/>
              </a:lnSpc>
              <a:spcBef>
                <a:spcPts val="1200"/>
              </a:spcBef>
              <a:spcAft>
                <a:spcPts val="0"/>
              </a:spcAft>
              <a:buClr>
                <a:schemeClr val="dk1"/>
              </a:buClr>
              <a:buSzPts val="1200"/>
              <a:buChar char="■"/>
              <a:defRPr/>
            </a:lvl3pPr>
            <a:lvl4pPr indent="-304800" lvl="3" marL="1828800" rtl="0" algn="l">
              <a:lnSpc>
                <a:spcPct val="90000"/>
              </a:lnSpc>
              <a:spcBef>
                <a:spcPts val="1200"/>
              </a:spcBef>
              <a:spcAft>
                <a:spcPts val="0"/>
              </a:spcAft>
              <a:buClr>
                <a:schemeClr val="dk1"/>
              </a:buClr>
              <a:buSzPts val="1200"/>
              <a:buChar char="●"/>
              <a:defRPr/>
            </a:lvl4pPr>
            <a:lvl5pPr indent="-304800" lvl="4" marL="2286000" rtl="0" algn="l">
              <a:lnSpc>
                <a:spcPct val="90000"/>
              </a:lnSpc>
              <a:spcBef>
                <a:spcPts val="1200"/>
              </a:spcBef>
              <a:spcAft>
                <a:spcPts val="0"/>
              </a:spcAft>
              <a:buClr>
                <a:schemeClr val="dk1"/>
              </a:buClr>
              <a:buSzPts val="1200"/>
              <a:buChar char="○"/>
              <a:defRPr/>
            </a:lvl5pPr>
            <a:lvl6pPr indent="-304800" lvl="5" marL="2743200" rtl="0" algn="l">
              <a:lnSpc>
                <a:spcPct val="90000"/>
              </a:lnSpc>
              <a:spcBef>
                <a:spcPts val="1200"/>
              </a:spcBef>
              <a:spcAft>
                <a:spcPts val="0"/>
              </a:spcAft>
              <a:buClr>
                <a:schemeClr val="dk1"/>
              </a:buClr>
              <a:buSzPts val="1200"/>
              <a:buChar char="■"/>
              <a:defRPr/>
            </a:lvl6pPr>
            <a:lvl7pPr indent="-304800" lvl="6" marL="3200400" rtl="0" algn="l">
              <a:lnSpc>
                <a:spcPct val="90000"/>
              </a:lnSpc>
              <a:spcBef>
                <a:spcPts val="1200"/>
              </a:spcBef>
              <a:spcAft>
                <a:spcPts val="0"/>
              </a:spcAft>
              <a:buClr>
                <a:schemeClr val="dk1"/>
              </a:buClr>
              <a:buSzPts val="1200"/>
              <a:buChar char="●"/>
              <a:defRPr/>
            </a:lvl7pPr>
            <a:lvl8pPr indent="-304800" lvl="7" marL="3657600" rtl="0" algn="l">
              <a:lnSpc>
                <a:spcPct val="90000"/>
              </a:lnSpc>
              <a:spcBef>
                <a:spcPts val="1200"/>
              </a:spcBef>
              <a:spcAft>
                <a:spcPts val="0"/>
              </a:spcAft>
              <a:buClr>
                <a:schemeClr val="dk1"/>
              </a:buClr>
              <a:buSzPts val="1200"/>
              <a:buChar char="○"/>
              <a:defRPr/>
            </a:lvl8pPr>
            <a:lvl9pPr indent="-304800" lvl="8" marL="4114800" rtl="0" algn="l">
              <a:lnSpc>
                <a:spcPct val="90000"/>
              </a:lnSpc>
              <a:spcBef>
                <a:spcPts val="1200"/>
              </a:spcBef>
              <a:spcAft>
                <a:spcPts val="1200"/>
              </a:spcAft>
              <a:buClr>
                <a:schemeClr val="dk1"/>
              </a:buClr>
              <a:buSzPts val="12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29450" lIns="58925" spcFirstLastPara="1" rIns="58925" wrap="square" tIns="29450">
            <a:noAutofit/>
          </a:bodyPr>
          <a:lstStyle>
            <a:lvl1pPr lvl="0" rtl="0" algn="l">
              <a:lnSpc>
                <a:spcPct val="100000"/>
              </a:lnSpc>
              <a:spcBef>
                <a:spcPts val="0"/>
              </a:spcBef>
              <a:spcAft>
                <a:spcPts val="0"/>
              </a:spcAft>
              <a:buClr>
                <a:srgbClr val="888888"/>
              </a:buClr>
              <a:buSzPts val="1200"/>
              <a:buChar char="●"/>
              <a:defRPr sz="900"/>
            </a:lvl1pPr>
            <a:lvl2pPr lvl="1" rtl="0" algn="ctr">
              <a:lnSpc>
                <a:spcPct val="100000"/>
              </a:lnSpc>
              <a:spcBef>
                <a:spcPts val="0"/>
              </a:spcBef>
              <a:spcAft>
                <a:spcPts val="0"/>
              </a:spcAft>
              <a:buClr>
                <a:srgbClr val="000000"/>
              </a:buClr>
              <a:buSzPts val="1200"/>
              <a:buChar char="○"/>
              <a:defRPr sz="900"/>
            </a:lvl2pPr>
            <a:lvl3pPr lvl="2" rtl="0" algn="ctr">
              <a:lnSpc>
                <a:spcPct val="100000"/>
              </a:lnSpc>
              <a:spcBef>
                <a:spcPts val="0"/>
              </a:spcBef>
              <a:spcAft>
                <a:spcPts val="0"/>
              </a:spcAft>
              <a:buClr>
                <a:srgbClr val="000000"/>
              </a:buClr>
              <a:buSzPts val="1200"/>
              <a:buChar char="■"/>
              <a:defRPr sz="900"/>
            </a:lvl3pPr>
            <a:lvl4pPr lvl="3" rtl="0" algn="ctr">
              <a:lnSpc>
                <a:spcPct val="100000"/>
              </a:lnSpc>
              <a:spcBef>
                <a:spcPts val="0"/>
              </a:spcBef>
              <a:spcAft>
                <a:spcPts val="0"/>
              </a:spcAft>
              <a:buClr>
                <a:srgbClr val="000000"/>
              </a:buClr>
              <a:buSzPts val="1200"/>
              <a:buChar char="●"/>
              <a:defRPr sz="900"/>
            </a:lvl4pPr>
            <a:lvl5pPr lvl="4" rtl="0" algn="ctr">
              <a:lnSpc>
                <a:spcPct val="100000"/>
              </a:lnSpc>
              <a:spcBef>
                <a:spcPts val="0"/>
              </a:spcBef>
              <a:spcAft>
                <a:spcPts val="0"/>
              </a:spcAft>
              <a:buClr>
                <a:srgbClr val="000000"/>
              </a:buClr>
              <a:buSzPts val="1200"/>
              <a:buChar char="○"/>
              <a:defRPr sz="900"/>
            </a:lvl5pPr>
            <a:lvl6pPr lvl="5" rtl="0" algn="ctr">
              <a:lnSpc>
                <a:spcPct val="100000"/>
              </a:lnSpc>
              <a:spcBef>
                <a:spcPts val="0"/>
              </a:spcBef>
              <a:spcAft>
                <a:spcPts val="0"/>
              </a:spcAft>
              <a:buClr>
                <a:srgbClr val="000000"/>
              </a:buClr>
              <a:buSzPts val="1200"/>
              <a:buChar char="■"/>
              <a:defRPr sz="900"/>
            </a:lvl6pPr>
            <a:lvl7pPr lvl="6" rtl="0" algn="ctr">
              <a:lnSpc>
                <a:spcPct val="100000"/>
              </a:lnSpc>
              <a:spcBef>
                <a:spcPts val="0"/>
              </a:spcBef>
              <a:spcAft>
                <a:spcPts val="0"/>
              </a:spcAft>
              <a:buClr>
                <a:srgbClr val="000000"/>
              </a:buClr>
              <a:buSzPts val="1200"/>
              <a:buChar char="●"/>
              <a:defRPr sz="900"/>
            </a:lvl7pPr>
            <a:lvl8pPr lvl="7" rtl="0" algn="ctr">
              <a:lnSpc>
                <a:spcPct val="100000"/>
              </a:lnSpc>
              <a:spcBef>
                <a:spcPts val="0"/>
              </a:spcBef>
              <a:spcAft>
                <a:spcPts val="0"/>
              </a:spcAft>
              <a:buClr>
                <a:srgbClr val="000000"/>
              </a:buClr>
              <a:buSzPts val="1200"/>
              <a:buChar char="○"/>
              <a:defRPr sz="900"/>
            </a:lvl8pPr>
            <a:lvl9pPr lvl="8" rtl="0" algn="ctr">
              <a:lnSpc>
                <a:spcPct val="100000"/>
              </a:lnSpc>
              <a:spcBef>
                <a:spcPts val="0"/>
              </a:spcBef>
              <a:spcAft>
                <a:spcPts val="0"/>
              </a:spcAft>
              <a:buClr>
                <a:srgbClr val="000000"/>
              </a:buClr>
              <a:buSzPts val="1200"/>
              <a:buChar char="■"/>
              <a:defRPr sz="9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29450" lIns="58925" spcFirstLastPara="1" rIns="58925" wrap="square" tIns="29450">
            <a:noAutofit/>
          </a:bodyPr>
          <a:lstStyle>
            <a:lvl1pPr lvl="0" rtl="0" algn="ctr">
              <a:lnSpc>
                <a:spcPct val="100000"/>
              </a:lnSpc>
              <a:spcBef>
                <a:spcPts val="0"/>
              </a:spcBef>
              <a:spcAft>
                <a:spcPts val="0"/>
              </a:spcAft>
              <a:buClr>
                <a:srgbClr val="888888"/>
              </a:buClr>
              <a:buSzPts val="1200"/>
              <a:buChar char="●"/>
              <a:defRPr sz="900"/>
            </a:lvl1pPr>
            <a:lvl2pPr lvl="1" rtl="0" algn="ctr">
              <a:lnSpc>
                <a:spcPct val="100000"/>
              </a:lnSpc>
              <a:spcBef>
                <a:spcPts val="0"/>
              </a:spcBef>
              <a:spcAft>
                <a:spcPts val="0"/>
              </a:spcAft>
              <a:buClr>
                <a:srgbClr val="000000"/>
              </a:buClr>
              <a:buSzPts val="1200"/>
              <a:buChar char="○"/>
              <a:defRPr sz="900"/>
            </a:lvl2pPr>
            <a:lvl3pPr lvl="2" rtl="0" algn="ctr">
              <a:lnSpc>
                <a:spcPct val="100000"/>
              </a:lnSpc>
              <a:spcBef>
                <a:spcPts val="0"/>
              </a:spcBef>
              <a:spcAft>
                <a:spcPts val="0"/>
              </a:spcAft>
              <a:buClr>
                <a:srgbClr val="000000"/>
              </a:buClr>
              <a:buSzPts val="1200"/>
              <a:buChar char="■"/>
              <a:defRPr sz="900"/>
            </a:lvl3pPr>
            <a:lvl4pPr lvl="3" rtl="0" algn="ctr">
              <a:lnSpc>
                <a:spcPct val="100000"/>
              </a:lnSpc>
              <a:spcBef>
                <a:spcPts val="0"/>
              </a:spcBef>
              <a:spcAft>
                <a:spcPts val="0"/>
              </a:spcAft>
              <a:buClr>
                <a:srgbClr val="000000"/>
              </a:buClr>
              <a:buSzPts val="1200"/>
              <a:buChar char="●"/>
              <a:defRPr sz="900"/>
            </a:lvl4pPr>
            <a:lvl5pPr lvl="4" rtl="0" algn="ctr">
              <a:lnSpc>
                <a:spcPct val="100000"/>
              </a:lnSpc>
              <a:spcBef>
                <a:spcPts val="0"/>
              </a:spcBef>
              <a:spcAft>
                <a:spcPts val="0"/>
              </a:spcAft>
              <a:buClr>
                <a:srgbClr val="000000"/>
              </a:buClr>
              <a:buSzPts val="1200"/>
              <a:buChar char="○"/>
              <a:defRPr sz="900"/>
            </a:lvl5pPr>
            <a:lvl6pPr lvl="5" rtl="0" algn="ctr">
              <a:lnSpc>
                <a:spcPct val="100000"/>
              </a:lnSpc>
              <a:spcBef>
                <a:spcPts val="0"/>
              </a:spcBef>
              <a:spcAft>
                <a:spcPts val="0"/>
              </a:spcAft>
              <a:buClr>
                <a:srgbClr val="000000"/>
              </a:buClr>
              <a:buSzPts val="1200"/>
              <a:buChar char="■"/>
              <a:defRPr sz="900"/>
            </a:lvl6pPr>
            <a:lvl7pPr lvl="6" rtl="0" algn="ctr">
              <a:lnSpc>
                <a:spcPct val="100000"/>
              </a:lnSpc>
              <a:spcBef>
                <a:spcPts val="0"/>
              </a:spcBef>
              <a:spcAft>
                <a:spcPts val="0"/>
              </a:spcAft>
              <a:buClr>
                <a:srgbClr val="000000"/>
              </a:buClr>
              <a:buSzPts val="1200"/>
              <a:buChar char="●"/>
              <a:defRPr sz="900"/>
            </a:lvl7pPr>
            <a:lvl8pPr lvl="7" rtl="0" algn="ctr">
              <a:lnSpc>
                <a:spcPct val="100000"/>
              </a:lnSpc>
              <a:spcBef>
                <a:spcPts val="0"/>
              </a:spcBef>
              <a:spcAft>
                <a:spcPts val="0"/>
              </a:spcAft>
              <a:buClr>
                <a:srgbClr val="000000"/>
              </a:buClr>
              <a:buSzPts val="1200"/>
              <a:buChar char="○"/>
              <a:defRPr sz="900"/>
            </a:lvl8pPr>
            <a:lvl9pPr lvl="8" rtl="0" algn="ctr">
              <a:lnSpc>
                <a:spcPct val="100000"/>
              </a:lnSpc>
              <a:spcBef>
                <a:spcPts val="0"/>
              </a:spcBef>
              <a:spcAft>
                <a:spcPts val="0"/>
              </a:spcAft>
              <a:buClr>
                <a:srgbClr val="000000"/>
              </a:buClr>
              <a:buSzPts val="1200"/>
              <a:buChar char="■"/>
              <a:defRPr sz="9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29450" lIns="58925" spcFirstLastPara="1" rIns="58925" wrap="square" tIns="29450">
            <a:normAutofit/>
          </a:bodyPr>
          <a:lstStyle>
            <a:lvl1pPr indent="0" lvl="0" marL="0" rtl="0" algn="r">
              <a:lnSpc>
                <a:spcPct val="100000"/>
              </a:lnSpc>
              <a:spcBef>
                <a:spcPts val="0"/>
              </a:spcBef>
              <a:spcAft>
                <a:spcPts val="0"/>
              </a:spcAft>
              <a:buClr>
                <a:srgbClr val="888888"/>
              </a:buClr>
              <a:buSzPts val="800"/>
              <a:buFont typeface="Helvetica Neue Light"/>
              <a:buNone/>
              <a:defRPr/>
            </a:lvl1pPr>
            <a:lvl2pPr indent="0" lvl="1" marL="0" rtl="0" algn="r">
              <a:lnSpc>
                <a:spcPct val="100000"/>
              </a:lnSpc>
              <a:spcBef>
                <a:spcPts val="0"/>
              </a:spcBef>
              <a:spcAft>
                <a:spcPts val="0"/>
              </a:spcAft>
              <a:buClr>
                <a:srgbClr val="888888"/>
              </a:buClr>
              <a:buSzPts val="800"/>
              <a:buFont typeface="Helvetica Neue Light"/>
              <a:buNone/>
              <a:defRPr/>
            </a:lvl2pPr>
            <a:lvl3pPr indent="0" lvl="2" marL="0" rtl="0" algn="r">
              <a:lnSpc>
                <a:spcPct val="100000"/>
              </a:lnSpc>
              <a:spcBef>
                <a:spcPts val="0"/>
              </a:spcBef>
              <a:spcAft>
                <a:spcPts val="0"/>
              </a:spcAft>
              <a:buClr>
                <a:srgbClr val="888888"/>
              </a:buClr>
              <a:buSzPts val="800"/>
              <a:buFont typeface="Helvetica Neue Light"/>
              <a:buNone/>
              <a:defRPr/>
            </a:lvl3pPr>
            <a:lvl4pPr indent="0" lvl="3" marL="0" rtl="0" algn="r">
              <a:lnSpc>
                <a:spcPct val="100000"/>
              </a:lnSpc>
              <a:spcBef>
                <a:spcPts val="0"/>
              </a:spcBef>
              <a:spcAft>
                <a:spcPts val="0"/>
              </a:spcAft>
              <a:buClr>
                <a:srgbClr val="888888"/>
              </a:buClr>
              <a:buSzPts val="800"/>
              <a:buFont typeface="Helvetica Neue Light"/>
              <a:buNone/>
              <a:defRPr/>
            </a:lvl4pPr>
            <a:lvl5pPr indent="0" lvl="4" marL="0" rtl="0" algn="r">
              <a:lnSpc>
                <a:spcPct val="100000"/>
              </a:lnSpc>
              <a:spcBef>
                <a:spcPts val="0"/>
              </a:spcBef>
              <a:spcAft>
                <a:spcPts val="0"/>
              </a:spcAft>
              <a:buClr>
                <a:srgbClr val="888888"/>
              </a:buClr>
              <a:buSzPts val="800"/>
              <a:buFont typeface="Helvetica Neue Light"/>
              <a:buNone/>
              <a:defRPr/>
            </a:lvl5pPr>
            <a:lvl6pPr indent="0" lvl="5" marL="0" rtl="0" algn="r">
              <a:lnSpc>
                <a:spcPct val="100000"/>
              </a:lnSpc>
              <a:spcBef>
                <a:spcPts val="0"/>
              </a:spcBef>
              <a:spcAft>
                <a:spcPts val="0"/>
              </a:spcAft>
              <a:buClr>
                <a:srgbClr val="888888"/>
              </a:buClr>
              <a:buSzPts val="800"/>
              <a:buFont typeface="Helvetica Neue Light"/>
              <a:buNone/>
              <a:defRPr/>
            </a:lvl6pPr>
            <a:lvl7pPr indent="0" lvl="6" marL="0" rtl="0" algn="r">
              <a:lnSpc>
                <a:spcPct val="100000"/>
              </a:lnSpc>
              <a:spcBef>
                <a:spcPts val="0"/>
              </a:spcBef>
              <a:spcAft>
                <a:spcPts val="0"/>
              </a:spcAft>
              <a:buClr>
                <a:srgbClr val="888888"/>
              </a:buClr>
              <a:buSzPts val="800"/>
              <a:buFont typeface="Helvetica Neue Light"/>
              <a:buNone/>
              <a:defRPr/>
            </a:lvl7pPr>
            <a:lvl8pPr indent="0" lvl="7" marL="0" rtl="0" algn="r">
              <a:lnSpc>
                <a:spcPct val="100000"/>
              </a:lnSpc>
              <a:spcBef>
                <a:spcPts val="0"/>
              </a:spcBef>
              <a:spcAft>
                <a:spcPts val="0"/>
              </a:spcAft>
              <a:buClr>
                <a:srgbClr val="888888"/>
              </a:buClr>
              <a:buSzPts val="800"/>
              <a:buFont typeface="Helvetica Neue Light"/>
              <a:buNone/>
              <a:defRPr/>
            </a:lvl8pPr>
            <a:lvl9pPr indent="0" lvl="8" marL="0" rtl="0" algn="r">
              <a:lnSpc>
                <a:spcPct val="100000"/>
              </a:lnSpc>
              <a:spcBef>
                <a:spcPts val="0"/>
              </a:spcBef>
              <a:spcAft>
                <a:spcPts val="0"/>
              </a:spcAft>
              <a:buClr>
                <a:srgbClr val="888888"/>
              </a:buClr>
              <a:buSzPts val="800"/>
              <a:buFont typeface="Helvetica Neue Light"/>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2" name="Google Shape;62;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6" name="Google Shape;6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 name="Google Shape;6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0" name="Google Shape;7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 name="Google Shape;73;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 name="Shape 76"/>
        <p:cNvGrpSpPr/>
        <p:nvPr/>
      </p:nvGrpSpPr>
      <p:grpSpPr>
        <a:xfrm>
          <a:off x="0" y="0"/>
          <a:ext cx="0" cy="0"/>
          <a:chOff x="0" y="0"/>
          <a:chExt cx="0" cy="0"/>
        </a:xfrm>
      </p:grpSpPr>
      <p:sp>
        <p:nvSpPr>
          <p:cNvPr id="77" name="Google Shape;77;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 name="Google Shape;7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9" name="Shape 79"/>
        <p:cNvGrpSpPr/>
        <p:nvPr/>
      </p:nvGrpSpPr>
      <p:grpSpPr>
        <a:xfrm>
          <a:off x="0" y="0"/>
          <a:ext cx="0" cy="0"/>
          <a:chOff x="0" y="0"/>
          <a:chExt cx="0" cy="0"/>
        </a:xfrm>
      </p:grpSpPr>
      <p:sp>
        <p:nvSpPr>
          <p:cNvPr id="80" name="Google Shape;80;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1" name="Google Shape;81;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9" name="Google Shape;89;p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0" name="Google Shape;90;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91" name="Google Shape;9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94" name="Google Shape;9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 name="Shape 95"/>
        <p:cNvGrpSpPr/>
        <p:nvPr/>
      </p:nvGrpSpPr>
      <p:grpSpPr>
        <a:xfrm>
          <a:off x="0" y="0"/>
          <a:ext cx="0" cy="0"/>
          <a:chOff x="0" y="0"/>
          <a:chExt cx="0" cy="0"/>
        </a:xfrm>
      </p:grpSpPr>
      <p:sp>
        <p:nvSpPr>
          <p:cNvPr id="96" name="Google Shape;96;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8" name="Google Shape;9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5" name="Shape 105"/>
        <p:cNvGrpSpPr/>
        <p:nvPr/>
      </p:nvGrpSpPr>
      <p:grpSpPr>
        <a:xfrm>
          <a:off x="0" y="0"/>
          <a:ext cx="0" cy="0"/>
          <a:chOff x="0" y="0"/>
          <a:chExt cx="0" cy="0"/>
        </a:xfrm>
      </p:grpSpPr>
      <p:sp>
        <p:nvSpPr>
          <p:cNvPr id="106" name="Google Shape;106;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7" name="Google Shape;107;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8" name="Google Shape;10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9" name="Shape 109"/>
        <p:cNvGrpSpPr/>
        <p:nvPr/>
      </p:nvGrpSpPr>
      <p:grpSpPr>
        <a:xfrm>
          <a:off x="0" y="0"/>
          <a:ext cx="0" cy="0"/>
          <a:chOff x="0" y="0"/>
          <a:chExt cx="0" cy="0"/>
        </a:xfrm>
      </p:grpSpPr>
      <p:sp>
        <p:nvSpPr>
          <p:cNvPr id="110" name="Google Shape;110;p2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1" name="Google Shape;11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2" name="Shape 112"/>
        <p:cNvGrpSpPr/>
        <p:nvPr/>
      </p:nvGrpSpPr>
      <p:grpSpPr>
        <a:xfrm>
          <a:off x="0" y="0"/>
          <a:ext cx="0" cy="0"/>
          <a:chOff x="0" y="0"/>
          <a:chExt cx="0" cy="0"/>
        </a:xfrm>
      </p:grpSpPr>
      <p:sp>
        <p:nvSpPr>
          <p:cNvPr id="113" name="Google Shape;113;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4" name="Google Shape;11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5" name="Google Shape;11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8" name="Google Shape;118;p30"/>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9" name="Google Shape;119;p30"/>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0" name="Google Shape;12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3" name="Google Shape;12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3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6" name="Google Shape;126;p32"/>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7" name="Google Shape;12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8" name="Shape 128"/>
        <p:cNvGrpSpPr/>
        <p:nvPr/>
      </p:nvGrpSpPr>
      <p:grpSpPr>
        <a:xfrm>
          <a:off x="0" y="0"/>
          <a:ext cx="0" cy="0"/>
          <a:chOff x="0" y="0"/>
          <a:chExt cx="0" cy="0"/>
        </a:xfrm>
      </p:grpSpPr>
      <p:sp>
        <p:nvSpPr>
          <p:cNvPr id="129" name="Google Shape;129;p33"/>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0" name="Google Shape;1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1" name="Shape 131"/>
        <p:cNvGrpSpPr/>
        <p:nvPr/>
      </p:nvGrpSpPr>
      <p:grpSpPr>
        <a:xfrm>
          <a:off x="0" y="0"/>
          <a:ext cx="0" cy="0"/>
          <a:chOff x="0" y="0"/>
          <a:chExt cx="0" cy="0"/>
        </a:xfrm>
      </p:grpSpPr>
      <p:sp>
        <p:nvSpPr>
          <p:cNvPr id="132" name="Google Shape;132;p34"/>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34" name="Google Shape;134;p3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5" name="Google Shape;135;p3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136" name="Google Shape;13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7" name="Shape 137"/>
        <p:cNvGrpSpPr/>
        <p:nvPr/>
      </p:nvGrpSpPr>
      <p:grpSpPr>
        <a:xfrm>
          <a:off x="0" y="0"/>
          <a:ext cx="0" cy="0"/>
          <a:chOff x="0" y="0"/>
          <a:chExt cx="0" cy="0"/>
        </a:xfrm>
      </p:grpSpPr>
      <p:sp>
        <p:nvSpPr>
          <p:cNvPr id="138" name="Google Shape;138;p35"/>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39" name="Google Shape;13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0" name="Shape 140"/>
        <p:cNvGrpSpPr/>
        <p:nvPr/>
      </p:nvGrpSpPr>
      <p:grpSpPr>
        <a:xfrm>
          <a:off x="0" y="0"/>
          <a:ext cx="0" cy="0"/>
          <a:chOff x="0" y="0"/>
          <a:chExt cx="0" cy="0"/>
        </a:xfrm>
      </p:grpSpPr>
      <p:sp>
        <p:nvSpPr>
          <p:cNvPr id="141" name="Google Shape;141;p3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42" name="Google Shape;142;p36"/>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43" name="Google Shape;14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4" name="Shape 144"/>
        <p:cNvGrpSpPr/>
        <p:nvPr/>
      </p:nvGrpSpPr>
      <p:grpSpPr>
        <a:xfrm>
          <a:off x="0" y="0"/>
          <a:ext cx="0" cy="0"/>
          <a:chOff x="0" y="0"/>
          <a:chExt cx="0" cy="0"/>
        </a:xfrm>
      </p:grpSpPr>
      <p:sp>
        <p:nvSpPr>
          <p:cNvPr id="145" name="Google Shape;14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46" name="Shape 146"/>
        <p:cNvGrpSpPr/>
        <p:nvPr/>
      </p:nvGrpSpPr>
      <p:grpSpPr>
        <a:xfrm>
          <a:off x="0" y="0"/>
          <a:ext cx="0" cy="0"/>
          <a:chOff x="0" y="0"/>
          <a:chExt cx="0" cy="0"/>
        </a:xfrm>
      </p:grpSpPr>
      <p:sp>
        <p:nvSpPr>
          <p:cNvPr id="147" name="Google Shape;147;p38"/>
          <p:cNvSpPr txBox="1"/>
          <p:nvPr>
            <p:ph type="title"/>
          </p:nvPr>
        </p:nvSpPr>
        <p:spPr>
          <a:xfrm>
            <a:off x="0" y="0"/>
            <a:ext cx="2250000" cy="2250000"/>
          </a:xfrm>
          <a:prstGeom prst="rect">
            <a:avLst/>
          </a:prstGeom>
          <a:noFill/>
          <a:ln>
            <a:noFill/>
          </a:ln>
        </p:spPr>
        <p:txBody>
          <a:bodyPr anchorCtr="0" anchor="t"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2800"/>
              <a:buNone/>
              <a:defRPr sz="1400"/>
            </a:lvl2pPr>
            <a:lvl3pPr lvl="2">
              <a:spcBef>
                <a:spcPts val="0"/>
              </a:spcBef>
              <a:spcAft>
                <a:spcPts val="0"/>
              </a:spcAft>
              <a:buSzPts val="2800"/>
              <a:buNone/>
              <a:defRPr sz="1400"/>
            </a:lvl3pPr>
            <a:lvl4pPr lvl="3">
              <a:spcBef>
                <a:spcPts val="0"/>
              </a:spcBef>
              <a:spcAft>
                <a:spcPts val="0"/>
              </a:spcAft>
              <a:buSzPts val="2800"/>
              <a:buNone/>
              <a:defRPr sz="1400"/>
            </a:lvl4pPr>
            <a:lvl5pPr lvl="4">
              <a:spcBef>
                <a:spcPts val="0"/>
              </a:spcBef>
              <a:spcAft>
                <a:spcPts val="0"/>
              </a:spcAft>
              <a:buSzPts val="2800"/>
              <a:buNone/>
              <a:defRPr sz="1400"/>
            </a:lvl5pPr>
            <a:lvl6pPr lvl="5">
              <a:spcBef>
                <a:spcPts val="0"/>
              </a:spcBef>
              <a:spcAft>
                <a:spcPts val="0"/>
              </a:spcAft>
              <a:buSzPts val="2800"/>
              <a:buNone/>
              <a:defRPr sz="1400"/>
            </a:lvl6pPr>
            <a:lvl7pPr lvl="6">
              <a:spcBef>
                <a:spcPts val="0"/>
              </a:spcBef>
              <a:spcAft>
                <a:spcPts val="0"/>
              </a:spcAft>
              <a:buSzPts val="2800"/>
              <a:buNone/>
              <a:defRPr sz="1400"/>
            </a:lvl7pPr>
            <a:lvl8pPr lvl="7">
              <a:spcBef>
                <a:spcPts val="0"/>
              </a:spcBef>
              <a:spcAft>
                <a:spcPts val="0"/>
              </a:spcAft>
              <a:buSzPts val="2800"/>
              <a:buNone/>
              <a:defRPr sz="1400"/>
            </a:lvl8pPr>
            <a:lvl9pPr lvl="8">
              <a:spcBef>
                <a:spcPts val="0"/>
              </a:spcBef>
              <a:spcAft>
                <a:spcPts val="0"/>
              </a:spcAft>
              <a:buSzPts val="2800"/>
              <a:buNone/>
              <a:defRPr sz="1400"/>
            </a:lvl9pPr>
          </a:lstStyle>
          <a:p/>
        </p:txBody>
      </p:sp>
      <p:sp>
        <p:nvSpPr>
          <p:cNvPr id="148" name="Google Shape;148;p38"/>
          <p:cNvSpPr txBox="1"/>
          <p:nvPr>
            <p:ph idx="1" type="body"/>
          </p:nvPr>
        </p:nvSpPr>
        <p:spPr>
          <a:xfrm>
            <a:off x="0" y="0"/>
            <a:ext cx="2250000" cy="22500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49" name="Google Shape;149;p38"/>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0" name="Google Shape;150;p38"/>
          <p:cNvSpPr txBox="1"/>
          <p:nvPr>
            <p:ph idx="11" type="ftr"/>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51" name="Google Shape;151;p38"/>
          <p:cNvSpPr txBox="1"/>
          <p:nvPr>
            <p:ph idx="12" type="sldNum"/>
          </p:nvPr>
        </p:nvSpPr>
        <p:spPr>
          <a:xfrm>
            <a:off x="0" y="0"/>
            <a:ext cx="2250000" cy="276900"/>
          </a:xfrm>
          <a:prstGeom prst="rect">
            <a:avLst/>
          </a:prstGeom>
          <a:noFill/>
          <a:ln>
            <a:noFill/>
          </a:ln>
        </p:spPr>
        <p:txBody>
          <a:bodyPr anchorCtr="0" anchor="t" bIns="34275" lIns="68575" spcFirstLastPara="1" rIns="68575" wrap="square" tIns="34275">
            <a:normAutofit lnSpcReduction="10000"/>
          </a:bodyPr>
          <a:lstStyle>
            <a:lvl1pPr indent="0" lvl="0" marL="0" marR="0" algn="l">
              <a:spcBef>
                <a:spcPts val="0"/>
              </a:spcBef>
              <a:buNone/>
              <a:defRPr b="0" i="0" sz="1400" u="none" cap="none" strike="noStrike">
                <a:solidFill>
                  <a:schemeClr val="dk1"/>
                </a:solidFill>
                <a:latin typeface="Calibri"/>
                <a:ea typeface="Calibri"/>
                <a:cs typeface="Calibri"/>
                <a:sym typeface="Calibri"/>
              </a:defRPr>
            </a:lvl1pPr>
            <a:lvl2pPr indent="0" lvl="1" marL="0" marR="0" algn="l">
              <a:spcBef>
                <a:spcPts val="0"/>
              </a:spcBef>
              <a:buNone/>
              <a:defRPr b="0" i="0" sz="1400" u="none" cap="none" strike="noStrike">
                <a:solidFill>
                  <a:schemeClr val="dk1"/>
                </a:solidFill>
                <a:latin typeface="Calibri"/>
                <a:ea typeface="Calibri"/>
                <a:cs typeface="Calibri"/>
                <a:sym typeface="Calibri"/>
              </a:defRPr>
            </a:lvl2pPr>
            <a:lvl3pPr indent="0" lvl="2" marL="0" marR="0" algn="l">
              <a:spcBef>
                <a:spcPts val="0"/>
              </a:spcBef>
              <a:buNone/>
              <a:defRPr b="0" i="0" sz="1400" u="none" cap="none" strike="noStrike">
                <a:solidFill>
                  <a:schemeClr val="dk1"/>
                </a:solidFill>
                <a:latin typeface="Calibri"/>
                <a:ea typeface="Calibri"/>
                <a:cs typeface="Calibri"/>
                <a:sym typeface="Calibri"/>
              </a:defRPr>
            </a:lvl3pPr>
            <a:lvl4pPr indent="0" lvl="3" marL="0" marR="0" algn="l">
              <a:spcBef>
                <a:spcPts val="0"/>
              </a:spcBef>
              <a:buNone/>
              <a:defRPr b="0" i="0" sz="1400" u="none" cap="none" strike="noStrike">
                <a:solidFill>
                  <a:schemeClr val="dk1"/>
                </a:solidFill>
                <a:latin typeface="Calibri"/>
                <a:ea typeface="Calibri"/>
                <a:cs typeface="Calibri"/>
                <a:sym typeface="Calibri"/>
              </a:defRPr>
            </a:lvl4pPr>
            <a:lvl5pPr indent="0" lvl="4" marL="0" marR="0" algn="l">
              <a:spcBef>
                <a:spcPts val="0"/>
              </a:spcBef>
              <a:buNone/>
              <a:defRPr b="0" i="0" sz="1400" u="none" cap="none" strike="noStrike">
                <a:solidFill>
                  <a:schemeClr val="dk1"/>
                </a:solidFill>
                <a:latin typeface="Calibri"/>
                <a:ea typeface="Calibri"/>
                <a:cs typeface="Calibri"/>
                <a:sym typeface="Calibri"/>
              </a:defRPr>
            </a:lvl5pPr>
            <a:lvl6pPr indent="0" lvl="5" marL="0" marR="0" algn="l">
              <a:spcBef>
                <a:spcPts val="0"/>
              </a:spcBef>
              <a:buNone/>
              <a:defRPr b="0" i="0" sz="1400" u="none" cap="none" strike="noStrike">
                <a:solidFill>
                  <a:schemeClr val="dk1"/>
                </a:solidFill>
                <a:latin typeface="Calibri"/>
                <a:ea typeface="Calibri"/>
                <a:cs typeface="Calibri"/>
                <a:sym typeface="Calibri"/>
              </a:defRPr>
            </a:lvl6pPr>
            <a:lvl7pPr indent="0" lvl="6" marL="0" marR="0" algn="l">
              <a:spcBef>
                <a:spcPts val="0"/>
              </a:spcBef>
              <a:buNone/>
              <a:defRPr b="0" i="0" sz="1400" u="none" cap="none" strike="noStrike">
                <a:solidFill>
                  <a:schemeClr val="dk1"/>
                </a:solidFill>
                <a:latin typeface="Calibri"/>
                <a:ea typeface="Calibri"/>
                <a:cs typeface="Calibri"/>
                <a:sym typeface="Calibri"/>
              </a:defRPr>
            </a:lvl7pPr>
            <a:lvl8pPr indent="0" lvl="7" marL="0" marR="0" algn="l">
              <a:spcBef>
                <a:spcPts val="0"/>
              </a:spcBef>
              <a:buNone/>
              <a:defRPr b="0" i="0" sz="1400" u="none" cap="none" strike="noStrike">
                <a:solidFill>
                  <a:schemeClr val="dk1"/>
                </a:solidFill>
                <a:latin typeface="Calibri"/>
                <a:ea typeface="Calibri"/>
                <a:cs typeface="Calibri"/>
                <a:sym typeface="Calibri"/>
              </a:defRPr>
            </a:lvl8pPr>
            <a:lvl9pPr indent="0" lvl="8" marL="0" marR="0" algn="l">
              <a:spcBef>
                <a:spcPts val="0"/>
              </a:spcBef>
              <a:buNone/>
              <a:defRPr b="0" i="0" sz="14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2" name="Shape 152"/>
        <p:cNvGrpSpPr/>
        <p:nvPr/>
      </p:nvGrpSpPr>
      <p:grpSpPr>
        <a:xfrm>
          <a:off x="0" y="0"/>
          <a:ext cx="0" cy="0"/>
          <a:chOff x="0" y="0"/>
          <a:chExt cx="0" cy="0"/>
        </a:xfrm>
      </p:grpSpPr>
      <p:sp>
        <p:nvSpPr>
          <p:cNvPr id="153" name="Google Shape;153;p39"/>
          <p:cNvSpPr txBox="1"/>
          <p:nvPr>
            <p:ph type="title"/>
          </p:nvPr>
        </p:nvSpPr>
        <p:spPr>
          <a:xfrm>
            <a:off x="229553" y="114538"/>
            <a:ext cx="8260800" cy="5532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1" i="0" sz="2400">
                <a:solidFill>
                  <a:srgbClr val="007B92"/>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 name="Google Shape;154;p39"/>
          <p:cNvSpPr txBox="1"/>
          <p:nvPr>
            <p:ph idx="1" type="body"/>
          </p:nvPr>
        </p:nvSpPr>
        <p:spPr>
          <a:xfrm>
            <a:off x="364093" y="814340"/>
            <a:ext cx="5327700" cy="2322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1800">
                <a:solidFill>
                  <a:srgbClr val="B6B8BB"/>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155" name="Google Shape;155;p39"/>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56" name="Google Shape;156;p3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100"/>
              <a:buNone/>
              <a:defRPr sz="1100">
                <a:solidFill>
                  <a:srgbClr val="888888"/>
                </a:solidFill>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157" name="Google Shape;157;p39"/>
          <p:cNvSpPr txBox="1"/>
          <p:nvPr>
            <p:ph idx="12" type="sldNum"/>
          </p:nvPr>
        </p:nvSpPr>
        <p:spPr>
          <a:xfrm>
            <a:off x="345043" y="4907875"/>
            <a:ext cx="210000" cy="169200"/>
          </a:xfrm>
          <a:prstGeom prst="rect">
            <a:avLst/>
          </a:prstGeom>
          <a:noFill/>
          <a:ln>
            <a:noFill/>
          </a:ln>
        </p:spPr>
        <p:txBody>
          <a:bodyPr anchorCtr="0" anchor="t" bIns="0" lIns="0" spcFirstLastPara="1" rIns="0" wrap="square" tIns="0">
            <a:spAutoFit/>
          </a:bodyPr>
          <a:lstStyle>
            <a:lvl1pPr indent="0" lvl="0" marL="25400">
              <a:lnSpc>
                <a:spcPct val="103571"/>
              </a:lnSpc>
              <a:spcBef>
                <a:spcPts val="0"/>
              </a:spcBef>
              <a:buNone/>
              <a:defRPr b="0" i="0" sz="1100">
                <a:solidFill>
                  <a:schemeClr val="dk1"/>
                </a:solidFill>
                <a:latin typeface="Calibri"/>
                <a:ea typeface="Calibri"/>
                <a:cs typeface="Calibri"/>
                <a:sym typeface="Calibri"/>
              </a:defRPr>
            </a:lvl1pPr>
            <a:lvl2pPr indent="0" lvl="1" marL="25400">
              <a:lnSpc>
                <a:spcPct val="103571"/>
              </a:lnSpc>
              <a:spcBef>
                <a:spcPts val="0"/>
              </a:spcBef>
              <a:buNone/>
              <a:defRPr b="0" i="0" sz="1100">
                <a:solidFill>
                  <a:schemeClr val="dk1"/>
                </a:solidFill>
                <a:latin typeface="Calibri"/>
                <a:ea typeface="Calibri"/>
                <a:cs typeface="Calibri"/>
                <a:sym typeface="Calibri"/>
              </a:defRPr>
            </a:lvl2pPr>
            <a:lvl3pPr indent="0" lvl="2" marL="25400">
              <a:lnSpc>
                <a:spcPct val="103571"/>
              </a:lnSpc>
              <a:spcBef>
                <a:spcPts val="0"/>
              </a:spcBef>
              <a:buNone/>
              <a:defRPr b="0" i="0" sz="1100">
                <a:solidFill>
                  <a:schemeClr val="dk1"/>
                </a:solidFill>
                <a:latin typeface="Calibri"/>
                <a:ea typeface="Calibri"/>
                <a:cs typeface="Calibri"/>
                <a:sym typeface="Calibri"/>
              </a:defRPr>
            </a:lvl3pPr>
            <a:lvl4pPr indent="0" lvl="3" marL="25400">
              <a:lnSpc>
                <a:spcPct val="103571"/>
              </a:lnSpc>
              <a:spcBef>
                <a:spcPts val="0"/>
              </a:spcBef>
              <a:buNone/>
              <a:defRPr b="0" i="0" sz="1100">
                <a:solidFill>
                  <a:schemeClr val="dk1"/>
                </a:solidFill>
                <a:latin typeface="Calibri"/>
                <a:ea typeface="Calibri"/>
                <a:cs typeface="Calibri"/>
                <a:sym typeface="Calibri"/>
              </a:defRPr>
            </a:lvl4pPr>
            <a:lvl5pPr indent="0" lvl="4" marL="25400">
              <a:lnSpc>
                <a:spcPct val="103571"/>
              </a:lnSpc>
              <a:spcBef>
                <a:spcPts val="0"/>
              </a:spcBef>
              <a:buNone/>
              <a:defRPr b="0" i="0" sz="1100">
                <a:solidFill>
                  <a:schemeClr val="dk1"/>
                </a:solidFill>
                <a:latin typeface="Calibri"/>
                <a:ea typeface="Calibri"/>
                <a:cs typeface="Calibri"/>
                <a:sym typeface="Calibri"/>
              </a:defRPr>
            </a:lvl5pPr>
            <a:lvl6pPr indent="0" lvl="5" marL="25400">
              <a:lnSpc>
                <a:spcPct val="103571"/>
              </a:lnSpc>
              <a:spcBef>
                <a:spcPts val="0"/>
              </a:spcBef>
              <a:buNone/>
              <a:defRPr b="0" i="0" sz="1100">
                <a:solidFill>
                  <a:schemeClr val="dk1"/>
                </a:solidFill>
                <a:latin typeface="Calibri"/>
                <a:ea typeface="Calibri"/>
                <a:cs typeface="Calibri"/>
                <a:sym typeface="Calibri"/>
              </a:defRPr>
            </a:lvl6pPr>
            <a:lvl7pPr indent="0" lvl="6" marL="25400">
              <a:lnSpc>
                <a:spcPct val="103571"/>
              </a:lnSpc>
              <a:spcBef>
                <a:spcPts val="0"/>
              </a:spcBef>
              <a:buNone/>
              <a:defRPr b="0" i="0" sz="1100">
                <a:solidFill>
                  <a:schemeClr val="dk1"/>
                </a:solidFill>
                <a:latin typeface="Calibri"/>
                <a:ea typeface="Calibri"/>
                <a:cs typeface="Calibri"/>
                <a:sym typeface="Calibri"/>
              </a:defRPr>
            </a:lvl7pPr>
            <a:lvl8pPr indent="0" lvl="7" marL="25400">
              <a:lnSpc>
                <a:spcPct val="103571"/>
              </a:lnSpc>
              <a:spcBef>
                <a:spcPts val="0"/>
              </a:spcBef>
              <a:buNone/>
              <a:defRPr b="0" i="0" sz="1100">
                <a:solidFill>
                  <a:schemeClr val="dk1"/>
                </a:solidFill>
                <a:latin typeface="Calibri"/>
                <a:ea typeface="Calibri"/>
                <a:cs typeface="Calibri"/>
                <a:sym typeface="Calibri"/>
              </a:defRPr>
            </a:lvl8pPr>
            <a:lvl9pPr indent="0" lvl="8" marL="25400">
              <a:lnSpc>
                <a:spcPct val="103571"/>
              </a:lnSpc>
              <a:spcBef>
                <a:spcPts val="0"/>
              </a:spcBef>
              <a:buNone/>
              <a:defRPr b="0" i="0" sz="1100">
                <a:solidFill>
                  <a:schemeClr val="dk1"/>
                </a:solidFill>
                <a:latin typeface="Calibri"/>
                <a:ea typeface="Calibri"/>
                <a:cs typeface="Calibri"/>
                <a:sym typeface="Calibri"/>
              </a:defRPr>
            </a:lvl9pPr>
          </a:lstStyle>
          <a:p>
            <a:pPr indent="0" lvl="0" marL="25400" rtl="0" algn="r">
              <a:spcBef>
                <a:spcPts val="0"/>
              </a:spcBef>
              <a:spcAft>
                <a:spcPts val="0"/>
              </a:spcAft>
              <a:buNone/>
            </a:pPr>
            <a:fld id="{00000000-1234-1234-1234-123412341234}" type="slidenum">
              <a:rPr lang="en"/>
              <a:t>‹#›</a:t>
            </a:fld>
            <a:endParaRPr sz="1000">
              <a:solidFill>
                <a:schemeClr val="lt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8" name="Google Shape;5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9" name="Google Shape;5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dk1"/>
        </a:solidFill>
      </p:bgPr>
    </p:bg>
    <p:spTree>
      <p:nvGrpSpPr>
        <p:cNvPr id="101" name="Shape 101"/>
        <p:cNvGrpSpPr/>
        <p:nvPr/>
      </p:nvGrpSpPr>
      <p:grpSpPr>
        <a:xfrm>
          <a:off x="0" y="0"/>
          <a:ext cx="0" cy="0"/>
          <a:chOff x="0" y="0"/>
          <a:chExt cx="0" cy="0"/>
        </a:xfrm>
      </p:grpSpPr>
      <p:sp>
        <p:nvSpPr>
          <p:cNvPr id="102" name="Google Shape;10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03" name="Google Shape;103;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104" name="Google Shape;10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youtube.com/watch?v=ArPaAX_PhIs&amp;list=PLkDaE6sCZn6Gl29AoE31iwdVwSG-KnDzF" TargetMode="External"/><Relationship Id="rId4" Type="http://schemas.openxmlformats.org/officeDocument/2006/relationships/hyperlink" Target="https://www.youtube.com/watch?v=ArPaAX_PhIs&amp;list=PLkDaE6sCZn6Gl29AoE31iwdVwSG-KnDz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youtube.com/watch?v=vVaRhZXovb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arxiv.org/pdf/1609.03499.pdf" TargetMode="Externa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hyperlink" Target="https://arxiv.org/pdf/1803.08494.pd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6.png"/><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5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hyperlink" Target="https://paperswithcode.com/method/mobilenetv2"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4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8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6.xml"/><Relationship Id="rId3" Type="http://schemas.openxmlformats.org/officeDocument/2006/relationships/image" Target="../media/image59.png"/><Relationship Id="rId4" Type="http://schemas.openxmlformats.org/officeDocument/2006/relationships/image" Target="../media/image6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7.xml"/><Relationship Id="rId3" Type="http://schemas.openxmlformats.org/officeDocument/2006/relationships/image" Target="../media/image57.png"/><Relationship Id="rId4" Type="http://schemas.openxmlformats.org/officeDocument/2006/relationships/image" Target="../media/image5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8.xml"/><Relationship Id="rId3" Type="http://schemas.openxmlformats.org/officeDocument/2006/relationships/image" Target="../media/image5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9.xml"/><Relationship Id="rId3" Type="http://schemas.openxmlformats.org/officeDocument/2006/relationships/image" Target="../media/image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0.xml"/><Relationship Id="rId3" Type="http://schemas.openxmlformats.org/officeDocument/2006/relationships/image" Target="../media/image6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1.xml"/><Relationship Id="rId3"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2.xml"/><Relationship Id="rId3" Type="http://schemas.openxmlformats.org/officeDocument/2006/relationships/image" Target="../media/image6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73.xml"/><Relationship Id="rId3" Type="http://schemas.openxmlformats.org/officeDocument/2006/relationships/image" Target="../media/image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5.xml"/><Relationship Id="rId3" Type="http://schemas.openxmlformats.org/officeDocument/2006/relationships/image" Target="../media/image8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6.xml"/><Relationship Id="rId3" Type="http://schemas.openxmlformats.org/officeDocument/2006/relationships/image" Target="../media/image7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7.xml"/><Relationship Id="rId3" Type="http://schemas.openxmlformats.org/officeDocument/2006/relationships/image" Target="../media/image7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8.xml"/><Relationship Id="rId3" Type="http://schemas.openxmlformats.org/officeDocument/2006/relationships/image" Target="../media/image7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9.xml"/><Relationship Id="rId3" Type="http://schemas.openxmlformats.org/officeDocument/2006/relationships/image" Target="../media/image7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8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8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hyperlink" Target="https://distill.pub/2016/deconv-checkerboard/" TargetMode="External"/><Relationship Id="rId4" Type="http://schemas.openxmlformats.org/officeDocument/2006/relationships/image" Target="../media/image88.png"/><Relationship Id="rId5" Type="http://schemas.openxmlformats.org/officeDocument/2006/relationships/image" Target="../media/image8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6.xml"/><Relationship Id="rId3" Type="http://schemas.openxmlformats.org/officeDocument/2006/relationships/image" Target="../media/image7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7.xml"/><Relationship Id="rId3" Type="http://schemas.openxmlformats.org/officeDocument/2006/relationships/image" Target="../media/image8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8.xml"/><Relationship Id="rId3" Type="http://schemas.openxmlformats.org/officeDocument/2006/relationships/image" Target="../media/image7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9.xml"/><Relationship Id="rId3" Type="http://schemas.openxmlformats.org/officeDocument/2006/relationships/image" Target="../media/image7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0.xml"/><Relationship Id="rId3" Type="http://schemas.openxmlformats.org/officeDocument/2006/relationships/image" Target="../media/image7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2.xml"/><Relationship Id="rId3" Type="http://schemas.openxmlformats.org/officeDocument/2006/relationships/image" Target="../media/image68.png"/><Relationship Id="rId4" Type="http://schemas.openxmlformats.org/officeDocument/2006/relationships/image" Target="../media/image6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3.xml"/><Relationship Id="rId3" Type="http://schemas.openxmlformats.org/officeDocument/2006/relationships/image" Target="../media/image69.png"/><Relationship Id="rId4" Type="http://schemas.openxmlformats.org/officeDocument/2006/relationships/image" Target="../media/image76.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4.xml"/><Relationship Id="rId3" Type="http://schemas.openxmlformats.org/officeDocument/2006/relationships/image" Target="../media/image7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7.xml"/><Relationship Id="rId3" Type="http://schemas.openxmlformats.org/officeDocument/2006/relationships/image" Target="../media/image8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8.xml"/><Relationship Id="rId3" Type="http://schemas.openxmlformats.org/officeDocument/2006/relationships/image" Target="../media/image8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1" name="Shape 161"/>
        <p:cNvGrpSpPr/>
        <p:nvPr/>
      </p:nvGrpSpPr>
      <p:grpSpPr>
        <a:xfrm>
          <a:off x="0" y="0"/>
          <a:ext cx="0" cy="0"/>
          <a:chOff x="0" y="0"/>
          <a:chExt cx="0" cy="0"/>
        </a:xfrm>
      </p:grpSpPr>
      <p:sp>
        <p:nvSpPr>
          <p:cNvPr id="162" name="Google Shape;162;p40"/>
          <p:cNvSpPr/>
          <p:nvPr/>
        </p:nvSpPr>
        <p:spPr>
          <a:xfrm>
            <a:off x="1657725" y="1610700"/>
            <a:ext cx="5828700" cy="2250900"/>
          </a:xfrm>
          <a:prstGeom prst="rect">
            <a:avLst/>
          </a:prstGeom>
          <a:solidFill>
            <a:srgbClr val="000000">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40"/>
          <p:cNvSpPr txBox="1"/>
          <p:nvPr>
            <p:ph idx="1" type="subTitle"/>
          </p:nvPr>
        </p:nvSpPr>
        <p:spPr>
          <a:xfrm>
            <a:off x="311700" y="2834125"/>
            <a:ext cx="8520600" cy="792600"/>
          </a:xfrm>
          <a:prstGeom prst="rect">
            <a:avLst/>
          </a:prstGeom>
          <a:noFill/>
          <a:ln>
            <a:noFill/>
          </a:ln>
        </p:spPr>
        <p:txBody>
          <a:bodyPr anchorCtr="0" anchor="t" bIns="29450" lIns="58925" spcFirstLastPara="1" rIns="58925" wrap="square" tIns="29450">
            <a:normAutofit lnSpcReduction="10000"/>
          </a:bodyPr>
          <a:lstStyle/>
          <a:p>
            <a:pPr indent="0" lvl="0" marL="0" rtl="0" algn="ctr">
              <a:lnSpc>
                <a:spcPct val="90000"/>
              </a:lnSpc>
              <a:spcBef>
                <a:spcPts val="0"/>
              </a:spcBef>
              <a:spcAft>
                <a:spcPts val="0"/>
              </a:spcAft>
              <a:buClr>
                <a:schemeClr val="dk1"/>
              </a:buClr>
              <a:buSzPts val="1600"/>
              <a:buNone/>
            </a:pPr>
            <a:r>
              <a:rPr lang="en">
                <a:solidFill>
                  <a:schemeClr val="dk1"/>
                </a:solidFill>
                <a:latin typeface="Montserrat"/>
                <a:ea typeface="Montserrat"/>
                <a:cs typeface="Montserrat"/>
                <a:sym typeface="Montserrat"/>
              </a:rPr>
              <a:t>CNN architectures. </a:t>
            </a:r>
            <a:endParaRPr>
              <a:solidFill>
                <a:schemeClr val="dk1"/>
              </a:solidFill>
              <a:latin typeface="Montserrat"/>
              <a:ea typeface="Montserrat"/>
              <a:cs typeface="Montserrat"/>
              <a:sym typeface="Montserrat"/>
            </a:endParaRPr>
          </a:p>
          <a:p>
            <a:pPr indent="0" lvl="0" marL="0" rtl="0" algn="ctr">
              <a:lnSpc>
                <a:spcPct val="90000"/>
              </a:lnSpc>
              <a:spcBef>
                <a:spcPts val="0"/>
              </a:spcBef>
              <a:spcAft>
                <a:spcPts val="0"/>
              </a:spcAft>
              <a:buClr>
                <a:schemeClr val="dk1"/>
              </a:buClr>
              <a:buSzPts val="1600"/>
              <a:buNone/>
            </a:pPr>
            <a:r>
              <a:rPr lang="en">
                <a:solidFill>
                  <a:schemeClr val="dk1"/>
                </a:solidFill>
                <a:latin typeface="Montserrat"/>
                <a:ea typeface="Montserrat"/>
                <a:cs typeface="Montserrat"/>
                <a:sym typeface="Montserrat"/>
              </a:rPr>
              <a:t>Image segmentation</a:t>
            </a:r>
            <a:endParaRPr>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9" name="Google Shape;1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000"/>
                </a:solidFill>
              </a:rPr>
              <a:t>Disclaimer</a:t>
            </a:r>
            <a:endParaRPr>
              <a:solidFill>
                <a:srgbClr val="000000"/>
              </a:solidFill>
            </a:endParaRPr>
          </a:p>
        </p:txBody>
      </p:sp>
      <p:sp>
        <p:nvSpPr>
          <p:cNvPr id="175" name="Google Shape;17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50">
                <a:solidFill>
                  <a:srgbClr val="333333"/>
                </a:solidFill>
                <a:highlight>
                  <a:schemeClr val="dk1"/>
                </a:highlight>
                <a:latin typeface="Roboto"/>
                <a:ea typeface="Roboto"/>
                <a:cs typeface="Roboto"/>
                <a:sym typeface="Roboto"/>
              </a:rPr>
              <a:t>Materials on the slides are taken from the following sources:</a:t>
            </a:r>
            <a:endParaRPr/>
          </a:p>
          <a:p>
            <a:pPr indent="-371475" lvl="0" marL="457200" rtl="0" algn="l">
              <a:spcBef>
                <a:spcPts val="0"/>
              </a:spcBef>
              <a:spcAft>
                <a:spcPts val="0"/>
              </a:spcAft>
              <a:buClr>
                <a:srgbClr val="333333"/>
              </a:buClr>
              <a:buSzPts val="2250"/>
              <a:buFont typeface="Roboto"/>
              <a:buChar char="●"/>
            </a:pPr>
            <a:r>
              <a:rPr lang="en" sz="2250">
                <a:solidFill>
                  <a:srgbClr val="333333"/>
                </a:solidFill>
                <a:highlight>
                  <a:schemeClr val="dk1"/>
                </a:highlight>
                <a:uFill>
                  <a:noFill/>
                </a:uFill>
                <a:latin typeface="Roboto"/>
                <a:ea typeface="Roboto"/>
                <a:cs typeface="Roboto"/>
                <a:sym typeface="Roboto"/>
                <a:hlinkClick r:id="rId3">
                  <a:extLst>
                    <a:ext uri="{A12FA001-AC4F-418D-AE19-62706E023703}">
                      <ahyp:hlinkClr val="tx"/>
                    </a:ext>
                  </a:extLst>
                </a:hlinkClick>
              </a:rPr>
              <a:t>Convolutional Neural Networks (Course 4 of the Deep Learning Specialization)</a:t>
            </a:r>
            <a:endParaRPr sz="2250">
              <a:solidFill>
                <a:srgbClr val="333333"/>
              </a:solidFill>
              <a:highlight>
                <a:schemeClr val="dk1"/>
              </a:highlight>
              <a:latin typeface="Roboto"/>
              <a:ea typeface="Roboto"/>
              <a:cs typeface="Roboto"/>
              <a:sym typeface="Roboto"/>
            </a:endParaRPr>
          </a:p>
          <a:p>
            <a:pPr indent="-371475" lvl="0" marL="457200" rtl="0" algn="l">
              <a:spcBef>
                <a:spcPts val="0"/>
              </a:spcBef>
              <a:spcAft>
                <a:spcPts val="0"/>
              </a:spcAft>
              <a:buClr>
                <a:srgbClr val="333333"/>
              </a:buClr>
              <a:buSzPts val="2250"/>
              <a:buFont typeface="Roboto"/>
              <a:buChar char="●"/>
            </a:pPr>
            <a:r>
              <a:rPr lang="en" sz="2250">
                <a:solidFill>
                  <a:srgbClr val="333333"/>
                </a:solidFill>
                <a:highlight>
                  <a:schemeClr val="dk1"/>
                </a:highlight>
                <a:latin typeface="Roboto"/>
                <a:ea typeface="Roboto"/>
                <a:cs typeface="Roboto"/>
                <a:sym typeface="Roboto"/>
              </a:rPr>
              <a:t>CS231n: Deep Learning for Computer Vision - Stanford University</a:t>
            </a:r>
            <a:endParaRPr sz="2250">
              <a:solidFill>
                <a:srgbClr val="333333"/>
              </a:solidFill>
              <a:highlight>
                <a:schemeClr val="dk1"/>
              </a:highlight>
              <a:uFill>
                <a:noFill/>
              </a:uFill>
              <a:latin typeface="Roboto"/>
              <a:ea typeface="Roboto"/>
              <a:cs typeface="Roboto"/>
              <a:sym typeface="Roboto"/>
              <a:hlinkClick r:id="rId4">
                <a:extLst>
                  <a:ext uri="{A12FA001-AC4F-418D-AE19-62706E023703}">
                    <ahyp:hlinkClr val="tx"/>
                  </a:ext>
                </a:extLst>
              </a:hlinkClick>
            </a:endParaRPr>
          </a:p>
          <a:p>
            <a:pPr indent="-371475" lvl="0" marL="457200" rtl="0" algn="l">
              <a:lnSpc>
                <a:spcPct val="100000"/>
              </a:lnSpc>
              <a:spcBef>
                <a:spcPts val="0"/>
              </a:spcBef>
              <a:spcAft>
                <a:spcPts val="0"/>
              </a:spcAft>
              <a:buClr>
                <a:srgbClr val="333333"/>
              </a:buClr>
              <a:buSzPts val="2250"/>
              <a:buFont typeface="Roboto"/>
              <a:buChar char="●"/>
            </a:pPr>
            <a:r>
              <a:rPr lang="en" sz="2250">
                <a:solidFill>
                  <a:srgbClr val="333333"/>
                </a:solidFill>
                <a:highlight>
                  <a:schemeClr val="dk1"/>
                </a:highlight>
                <a:latin typeface="Roboto"/>
                <a:ea typeface="Roboto"/>
                <a:cs typeface="Roboto"/>
                <a:sym typeface="Roboto"/>
              </a:rPr>
              <a:t>Introduction to Deep Learning by Sebastian Raschka</a:t>
            </a:r>
            <a:endParaRPr sz="2550">
              <a:solidFill>
                <a:srgbClr val="2196F3"/>
              </a:solidFill>
              <a:highlight>
                <a:srgbClr val="FAFAFA"/>
              </a:highlight>
              <a:latin typeface="Roboto"/>
              <a:ea typeface="Roboto"/>
              <a:cs typeface="Roboto"/>
              <a:sym typeface="Roboto"/>
            </a:endParaRPr>
          </a:p>
          <a:p>
            <a:pPr indent="-371475" lvl="0" marL="457200" rtl="0" algn="l">
              <a:lnSpc>
                <a:spcPct val="100000"/>
              </a:lnSpc>
              <a:spcBef>
                <a:spcPts val="0"/>
              </a:spcBef>
              <a:spcAft>
                <a:spcPts val="0"/>
              </a:spcAft>
              <a:buClr>
                <a:srgbClr val="333333"/>
              </a:buClr>
              <a:buSzPts val="2250"/>
              <a:buFont typeface="Roboto"/>
              <a:buChar char="●"/>
            </a:pPr>
            <a:r>
              <a:rPr lang="en" sz="2250">
                <a:solidFill>
                  <a:srgbClr val="333333"/>
                </a:solidFill>
                <a:highlight>
                  <a:schemeClr val="dk1"/>
                </a:highlight>
                <a:latin typeface="Roboto"/>
                <a:ea typeface="Roboto"/>
                <a:cs typeface="Roboto"/>
                <a:sym typeface="Roboto"/>
              </a:rPr>
              <a:t>Dive into Deep Learning - Zhang, Lipton, Li</a:t>
            </a:r>
            <a:endParaRPr sz="2100">
              <a:solidFill>
                <a:srgbClr val="11114E"/>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0000"/>
                </a:solidFill>
              </a:rPr>
              <a:t>Agenda</a:t>
            </a:r>
            <a:endParaRPr>
              <a:solidFill>
                <a:srgbClr val="000000"/>
              </a:solidFill>
            </a:endParaRPr>
          </a:p>
        </p:txBody>
      </p:sp>
      <p:sp>
        <p:nvSpPr>
          <p:cNvPr id="181" name="Google Shape;181;p43"/>
          <p:cNvSpPr txBox="1"/>
          <p:nvPr>
            <p:ph idx="1" type="body"/>
          </p:nvPr>
        </p:nvSpPr>
        <p:spPr>
          <a:xfrm>
            <a:off x="289875" y="1152450"/>
            <a:ext cx="8520600" cy="3416400"/>
          </a:xfrm>
          <a:prstGeom prst="rect">
            <a:avLst/>
          </a:prstGeom>
        </p:spPr>
        <p:txBody>
          <a:bodyPr anchorCtr="0" anchor="t" bIns="91425" lIns="91425" spcFirstLastPara="1" rIns="91425" wrap="square" tIns="91425">
            <a:normAutofit/>
          </a:bodyPr>
          <a:lstStyle/>
          <a:p>
            <a:pPr indent="-342900" lvl="0" marL="457200" marR="0" rtl="0" algn="l">
              <a:lnSpc>
                <a:spcPct val="150000"/>
              </a:lnSpc>
              <a:spcBef>
                <a:spcPts val="0"/>
              </a:spcBef>
              <a:spcAft>
                <a:spcPts val="0"/>
              </a:spcAft>
              <a:buClr>
                <a:schemeClr val="lt1"/>
              </a:buClr>
              <a:buSzPts val="1800"/>
              <a:buChar char="●"/>
            </a:pPr>
            <a:r>
              <a:rPr lang="en" sz="2100">
                <a:solidFill>
                  <a:srgbClr val="11114E"/>
                </a:solidFill>
                <a:latin typeface="Montserrat"/>
                <a:ea typeface="Montserrat"/>
                <a:cs typeface="Montserrat"/>
                <a:sym typeface="Montserrat"/>
              </a:rPr>
              <a:t>Recap</a:t>
            </a:r>
            <a:endParaRPr sz="2100">
              <a:solidFill>
                <a:srgbClr val="11114E"/>
              </a:solidFill>
              <a:latin typeface="Montserrat"/>
              <a:ea typeface="Montserrat"/>
              <a:cs typeface="Montserrat"/>
              <a:sym typeface="Montserrat"/>
            </a:endParaRPr>
          </a:p>
          <a:p>
            <a:pPr indent="-342900" lvl="0" marL="457200" marR="0" rtl="0" algn="l">
              <a:lnSpc>
                <a:spcPct val="150000"/>
              </a:lnSpc>
              <a:spcBef>
                <a:spcPts val="0"/>
              </a:spcBef>
              <a:spcAft>
                <a:spcPts val="0"/>
              </a:spcAft>
              <a:buClr>
                <a:schemeClr val="lt1"/>
              </a:buClr>
              <a:buSzPts val="1800"/>
              <a:buChar char="●"/>
            </a:pPr>
            <a:r>
              <a:rPr lang="en" sz="2100">
                <a:solidFill>
                  <a:srgbClr val="11114E"/>
                </a:solidFill>
                <a:latin typeface="Montserrat"/>
                <a:ea typeface="Montserrat"/>
                <a:cs typeface="Montserrat"/>
                <a:sym typeface="Montserrat"/>
              </a:rPr>
              <a:t>More on CNNs</a:t>
            </a:r>
            <a:endParaRPr sz="2100">
              <a:solidFill>
                <a:srgbClr val="11114E"/>
              </a:solidFill>
              <a:latin typeface="Montserrat"/>
              <a:ea typeface="Montserrat"/>
              <a:cs typeface="Montserrat"/>
              <a:sym typeface="Montserrat"/>
            </a:endParaRPr>
          </a:p>
          <a:p>
            <a:pPr indent="-342900" lvl="0" marL="457200" marR="0" rtl="0" algn="l">
              <a:lnSpc>
                <a:spcPct val="150000"/>
              </a:lnSpc>
              <a:spcBef>
                <a:spcPts val="0"/>
              </a:spcBef>
              <a:spcAft>
                <a:spcPts val="0"/>
              </a:spcAft>
              <a:buClr>
                <a:schemeClr val="lt1"/>
              </a:buClr>
              <a:buSzPts val="1800"/>
              <a:buChar char="●"/>
            </a:pPr>
            <a:r>
              <a:rPr lang="en" sz="2100">
                <a:solidFill>
                  <a:srgbClr val="11114E"/>
                </a:solidFill>
                <a:latin typeface="Montserrat"/>
                <a:ea typeface="Montserrat"/>
                <a:cs typeface="Montserrat"/>
                <a:sym typeface="Montserrat"/>
              </a:rPr>
              <a:t>More on Normalizations</a:t>
            </a:r>
            <a:endParaRPr sz="2100">
              <a:solidFill>
                <a:srgbClr val="11114E"/>
              </a:solidFill>
              <a:latin typeface="Montserrat"/>
              <a:ea typeface="Montserrat"/>
              <a:cs typeface="Montserrat"/>
              <a:sym typeface="Montserrat"/>
            </a:endParaRPr>
          </a:p>
          <a:p>
            <a:pPr indent="-361950" lvl="0" marL="457200" marR="0" rtl="0" algn="l">
              <a:lnSpc>
                <a:spcPct val="150000"/>
              </a:lnSpc>
              <a:spcBef>
                <a:spcPts val="0"/>
              </a:spcBef>
              <a:spcAft>
                <a:spcPts val="0"/>
              </a:spcAft>
              <a:buClr>
                <a:srgbClr val="11114E"/>
              </a:buClr>
              <a:buSzPts val="2100"/>
              <a:buFont typeface="Montserrat"/>
              <a:buChar char="●"/>
            </a:pPr>
            <a:r>
              <a:rPr lang="en" sz="2100">
                <a:solidFill>
                  <a:srgbClr val="11114E"/>
                </a:solidFill>
                <a:latin typeface="Montserrat"/>
                <a:ea typeface="Montserrat"/>
                <a:cs typeface="Montserrat"/>
                <a:sym typeface="Montserrat"/>
              </a:rPr>
              <a:t>Inception </a:t>
            </a:r>
            <a:endParaRPr sz="2100">
              <a:solidFill>
                <a:srgbClr val="11114E"/>
              </a:solidFill>
              <a:latin typeface="Montserrat"/>
              <a:ea typeface="Montserrat"/>
              <a:cs typeface="Montserrat"/>
              <a:sym typeface="Montserrat"/>
            </a:endParaRPr>
          </a:p>
          <a:p>
            <a:pPr indent="-342900" lvl="0" marL="457200" marR="0" rtl="0" algn="l">
              <a:lnSpc>
                <a:spcPct val="150000"/>
              </a:lnSpc>
              <a:spcBef>
                <a:spcPts val="0"/>
              </a:spcBef>
              <a:spcAft>
                <a:spcPts val="0"/>
              </a:spcAft>
              <a:buClr>
                <a:schemeClr val="lt1"/>
              </a:buClr>
              <a:buSzPts val="1800"/>
              <a:buChar char="●"/>
            </a:pPr>
            <a:r>
              <a:rPr lang="en" sz="2100">
                <a:solidFill>
                  <a:srgbClr val="11114E"/>
                </a:solidFill>
                <a:latin typeface="Montserrat"/>
                <a:ea typeface="Montserrat"/>
                <a:cs typeface="Montserrat"/>
                <a:sym typeface="Montserrat"/>
              </a:rPr>
              <a:t>MobilNet</a:t>
            </a:r>
            <a:endParaRPr sz="2100">
              <a:solidFill>
                <a:srgbClr val="11114E"/>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Recap</a:t>
            </a:r>
            <a:endParaRPr>
              <a:solidFill>
                <a:schemeClr val="lt1"/>
              </a:solidFill>
            </a:endParaRPr>
          </a:p>
        </p:txBody>
      </p:sp>
      <p:sp>
        <p:nvSpPr>
          <p:cNvPr id="187" name="Google Shape;187;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rgbClr val="202124"/>
              </a:buClr>
              <a:buSzPts val="1800"/>
              <a:buChar char="●"/>
            </a:pPr>
            <a:r>
              <a:rPr lang="en" sz="2100">
                <a:solidFill>
                  <a:srgbClr val="11114E"/>
                </a:solidFill>
                <a:latin typeface="Montserrat"/>
                <a:ea typeface="Montserrat"/>
                <a:cs typeface="Montserrat"/>
                <a:sym typeface="Montserrat"/>
              </a:rPr>
              <a:t>Convolution Operation</a:t>
            </a:r>
            <a:endParaRPr sz="2100">
              <a:solidFill>
                <a:srgbClr val="11114E"/>
              </a:solidFill>
              <a:latin typeface="Montserrat"/>
              <a:ea typeface="Montserrat"/>
              <a:cs typeface="Montserrat"/>
              <a:sym typeface="Montserrat"/>
            </a:endParaRPr>
          </a:p>
          <a:p>
            <a:pPr indent="-342900" lvl="0" marL="457200" rtl="0" algn="l">
              <a:lnSpc>
                <a:spcPct val="150000"/>
              </a:lnSpc>
              <a:spcBef>
                <a:spcPts val="0"/>
              </a:spcBef>
              <a:spcAft>
                <a:spcPts val="0"/>
              </a:spcAft>
              <a:buClr>
                <a:srgbClr val="202124"/>
              </a:buClr>
              <a:buSzPts val="1800"/>
              <a:buChar char="●"/>
            </a:pPr>
            <a:r>
              <a:rPr lang="en" sz="2100">
                <a:solidFill>
                  <a:srgbClr val="11114E"/>
                </a:solidFill>
                <a:latin typeface="Montserrat"/>
                <a:ea typeface="Montserrat"/>
                <a:cs typeface="Montserrat"/>
                <a:sym typeface="Montserrat"/>
              </a:rPr>
              <a:t>Padding/Stride</a:t>
            </a:r>
            <a:endParaRPr sz="2100">
              <a:solidFill>
                <a:srgbClr val="11114E"/>
              </a:solidFill>
              <a:latin typeface="Montserrat"/>
              <a:ea typeface="Montserrat"/>
              <a:cs typeface="Montserrat"/>
              <a:sym typeface="Montserrat"/>
            </a:endParaRPr>
          </a:p>
          <a:p>
            <a:pPr indent="-342900" lvl="0" marL="457200" rtl="0" algn="l">
              <a:lnSpc>
                <a:spcPct val="150000"/>
              </a:lnSpc>
              <a:spcBef>
                <a:spcPts val="0"/>
              </a:spcBef>
              <a:spcAft>
                <a:spcPts val="0"/>
              </a:spcAft>
              <a:buClr>
                <a:srgbClr val="202124"/>
              </a:buClr>
              <a:buSzPts val="1800"/>
              <a:buChar char="●"/>
            </a:pPr>
            <a:r>
              <a:rPr lang="en" sz="2100">
                <a:solidFill>
                  <a:srgbClr val="11114E"/>
                </a:solidFill>
                <a:latin typeface="Montserrat"/>
                <a:ea typeface="Montserrat"/>
                <a:cs typeface="Montserrat"/>
                <a:sym typeface="Montserrat"/>
              </a:rPr>
              <a:t>Convolu</a:t>
            </a:r>
            <a:r>
              <a:rPr lang="en" sz="2100">
                <a:solidFill>
                  <a:srgbClr val="11114E"/>
                </a:solidFill>
                <a:latin typeface="Montserrat"/>
                <a:ea typeface="Montserrat"/>
                <a:cs typeface="Montserrat"/>
                <a:sym typeface="Montserrat"/>
              </a:rPr>
              <a:t>tional Layer</a:t>
            </a:r>
            <a:endParaRPr sz="2100">
              <a:solidFill>
                <a:srgbClr val="11114E"/>
              </a:solidFill>
              <a:latin typeface="Montserrat"/>
              <a:ea typeface="Montserrat"/>
              <a:cs typeface="Montserrat"/>
              <a:sym typeface="Montserrat"/>
            </a:endParaRPr>
          </a:p>
          <a:p>
            <a:pPr indent="-361950" lvl="0" marL="457200" rtl="0" algn="l">
              <a:lnSpc>
                <a:spcPct val="150000"/>
              </a:lnSpc>
              <a:spcBef>
                <a:spcPts val="0"/>
              </a:spcBef>
              <a:spcAft>
                <a:spcPts val="0"/>
              </a:spcAft>
              <a:buClr>
                <a:srgbClr val="11114E"/>
              </a:buClr>
              <a:buSzPts val="2100"/>
              <a:buFont typeface="Montserrat"/>
              <a:buChar char="●"/>
            </a:pPr>
            <a:r>
              <a:rPr lang="en" sz="2100">
                <a:solidFill>
                  <a:srgbClr val="11114E"/>
                </a:solidFill>
                <a:latin typeface="Montserrat"/>
                <a:ea typeface="Montserrat"/>
                <a:cs typeface="Montserrat"/>
                <a:sym typeface="Montserrat"/>
              </a:rPr>
              <a:t>ImageNet</a:t>
            </a:r>
            <a:endParaRPr sz="2100">
              <a:solidFill>
                <a:srgbClr val="11114E"/>
              </a:solidFill>
              <a:latin typeface="Montserrat"/>
              <a:ea typeface="Montserrat"/>
              <a:cs typeface="Montserrat"/>
              <a:sym typeface="Montserrat"/>
            </a:endParaRPr>
          </a:p>
          <a:p>
            <a:pPr indent="-361950" lvl="0" marL="457200" rtl="0" algn="l">
              <a:lnSpc>
                <a:spcPct val="150000"/>
              </a:lnSpc>
              <a:spcBef>
                <a:spcPts val="0"/>
              </a:spcBef>
              <a:spcAft>
                <a:spcPts val="0"/>
              </a:spcAft>
              <a:buClr>
                <a:srgbClr val="11114E"/>
              </a:buClr>
              <a:buSzPts val="2100"/>
              <a:buFont typeface="Montserrat"/>
              <a:buChar char="●"/>
            </a:pPr>
            <a:r>
              <a:rPr lang="en" sz="2100">
                <a:solidFill>
                  <a:srgbClr val="11114E"/>
                </a:solidFill>
                <a:latin typeface="Montserrat"/>
                <a:ea typeface="Montserrat"/>
                <a:cs typeface="Montserrat"/>
                <a:sym typeface="Montserrat"/>
              </a:rPr>
              <a:t>LeNet 5</a:t>
            </a:r>
            <a:endParaRPr sz="2100">
              <a:solidFill>
                <a:srgbClr val="11114E"/>
              </a:solidFill>
              <a:latin typeface="Montserrat"/>
              <a:ea typeface="Montserrat"/>
              <a:cs typeface="Montserrat"/>
              <a:sym typeface="Montserrat"/>
            </a:endParaRPr>
          </a:p>
          <a:p>
            <a:pPr indent="0" lvl="0" marL="457200" rtl="0" algn="l">
              <a:lnSpc>
                <a:spcPct val="150000"/>
              </a:lnSpc>
              <a:spcBef>
                <a:spcPts val="1200"/>
              </a:spcBef>
              <a:spcAft>
                <a:spcPts val="1200"/>
              </a:spcAft>
              <a:buNone/>
            </a:pPr>
            <a:r>
              <a:t/>
            </a:r>
            <a:endParaRPr sz="2100">
              <a:solidFill>
                <a:srgbClr val="11114E"/>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Recap: </a:t>
            </a:r>
            <a:r>
              <a:rPr lang="en">
                <a:solidFill>
                  <a:schemeClr val="lt1"/>
                </a:solidFill>
              </a:rPr>
              <a:t>1D Discrete Convolution</a:t>
            </a:r>
            <a:endParaRPr>
              <a:solidFill>
                <a:schemeClr val="lt1"/>
              </a:solidFill>
            </a:endParaRPr>
          </a:p>
        </p:txBody>
      </p:sp>
      <p:sp>
        <p:nvSpPr>
          <p:cNvPr id="193" name="Google Shape;193;p45"/>
          <p:cNvSpPr txBox="1"/>
          <p:nvPr/>
        </p:nvSpPr>
        <p:spPr>
          <a:xfrm>
            <a:off x="311700" y="1075275"/>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1"/>
              </a:solidFill>
            </a:endParaRPr>
          </a:p>
        </p:txBody>
      </p:sp>
      <p:pic>
        <p:nvPicPr>
          <p:cNvPr id="194" name="Google Shape;194;p45"/>
          <p:cNvPicPr preferRelativeResize="0"/>
          <p:nvPr/>
        </p:nvPicPr>
        <p:blipFill>
          <a:blip r:embed="rId3">
            <a:alphaModFix/>
          </a:blip>
          <a:stretch>
            <a:fillRect/>
          </a:stretch>
        </p:blipFill>
        <p:spPr>
          <a:xfrm>
            <a:off x="48750" y="1364338"/>
            <a:ext cx="3775850" cy="2530049"/>
          </a:xfrm>
          <a:prstGeom prst="rect">
            <a:avLst/>
          </a:prstGeom>
          <a:noFill/>
          <a:ln>
            <a:noFill/>
          </a:ln>
        </p:spPr>
      </p:pic>
      <p:sp>
        <p:nvSpPr>
          <p:cNvPr id="195" name="Google Shape;195;p45"/>
          <p:cNvSpPr txBox="1"/>
          <p:nvPr/>
        </p:nvSpPr>
        <p:spPr>
          <a:xfrm>
            <a:off x="726525" y="4643875"/>
            <a:ext cx="314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[0.2, 0.2, 0.2, 0.2, 0.2]</a:t>
            </a:r>
            <a:endParaRPr sz="1800">
              <a:solidFill>
                <a:schemeClr val="lt1"/>
              </a:solidFill>
            </a:endParaRPr>
          </a:p>
        </p:txBody>
      </p:sp>
      <p:pic>
        <p:nvPicPr>
          <p:cNvPr id="196" name="Google Shape;196;p45"/>
          <p:cNvPicPr preferRelativeResize="0"/>
          <p:nvPr/>
        </p:nvPicPr>
        <p:blipFill>
          <a:blip r:embed="rId4">
            <a:alphaModFix/>
          </a:blip>
          <a:stretch>
            <a:fillRect/>
          </a:stretch>
        </p:blipFill>
        <p:spPr>
          <a:xfrm>
            <a:off x="4497454" y="1443925"/>
            <a:ext cx="4523547" cy="2450450"/>
          </a:xfrm>
          <a:prstGeom prst="rect">
            <a:avLst/>
          </a:prstGeom>
          <a:noFill/>
          <a:ln>
            <a:noFill/>
          </a:ln>
        </p:spPr>
      </p:pic>
      <p:sp>
        <p:nvSpPr>
          <p:cNvPr id="197" name="Google Shape;197;p45"/>
          <p:cNvSpPr/>
          <p:nvPr/>
        </p:nvSpPr>
        <p:spPr>
          <a:xfrm>
            <a:off x="3901000" y="2380300"/>
            <a:ext cx="510900" cy="250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Recap: </a:t>
            </a:r>
            <a:r>
              <a:rPr lang="en">
                <a:solidFill>
                  <a:schemeClr val="lt1"/>
                </a:solidFill>
              </a:rPr>
              <a:t>2D Discrete Convolution - uniform filter</a:t>
            </a:r>
            <a:endParaRPr>
              <a:solidFill>
                <a:schemeClr val="lt1"/>
              </a:solidFill>
            </a:endParaRPr>
          </a:p>
        </p:txBody>
      </p:sp>
      <p:sp>
        <p:nvSpPr>
          <p:cNvPr id="203" name="Google Shape;203;p46"/>
          <p:cNvSpPr txBox="1"/>
          <p:nvPr/>
        </p:nvSpPr>
        <p:spPr>
          <a:xfrm>
            <a:off x="311700" y="1075275"/>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1"/>
              </a:solidFill>
            </a:endParaRPr>
          </a:p>
        </p:txBody>
      </p:sp>
      <p:pic>
        <p:nvPicPr>
          <p:cNvPr id="204" name="Google Shape;204;p46"/>
          <p:cNvPicPr preferRelativeResize="0"/>
          <p:nvPr/>
        </p:nvPicPr>
        <p:blipFill>
          <a:blip r:embed="rId3">
            <a:alphaModFix/>
          </a:blip>
          <a:stretch>
            <a:fillRect/>
          </a:stretch>
        </p:blipFill>
        <p:spPr>
          <a:xfrm>
            <a:off x="3846400" y="2392950"/>
            <a:ext cx="1451175" cy="1269000"/>
          </a:xfrm>
          <a:prstGeom prst="rect">
            <a:avLst/>
          </a:prstGeom>
          <a:noFill/>
          <a:ln>
            <a:noFill/>
          </a:ln>
        </p:spPr>
      </p:pic>
      <p:sp>
        <p:nvSpPr>
          <p:cNvPr id="205" name="Google Shape;205;p46"/>
          <p:cNvSpPr/>
          <p:nvPr/>
        </p:nvSpPr>
        <p:spPr>
          <a:xfrm>
            <a:off x="3246450" y="2833025"/>
            <a:ext cx="365400" cy="22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46"/>
          <p:cNvSpPr/>
          <p:nvPr/>
        </p:nvSpPr>
        <p:spPr>
          <a:xfrm>
            <a:off x="5438800" y="2833025"/>
            <a:ext cx="365400" cy="223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7" name="Google Shape;207;p46"/>
          <p:cNvPicPr preferRelativeResize="0"/>
          <p:nvPr/>
        </p:nvPicPr>
        <p:blipFill>
          <a:blip r:embed="rId4">
            <a:alphaModFix/>
          </a:blip>
          <a:stretch>
            <a:fillRect/>
          </a:stretch>
        </p:blipFill>
        <p:spPr>
          <a:xfrm>
            <a:off x="5956600" y="1689375"/>
            <a:ext cx="2941650" cy="2941650"/>
          </a:xfrm>
          <a:prstGeom prst="rect">
            <a:avLst/>
          </a:prstGeom>
          <a:noFill/>
          <a:ln>
            <a:noFill/>
          </a:ln>
        </p:spPr>
      </p:pic>
      <p:pic>
        <p:nvPicPr>
          <p:cNvPr id="208" name="Google Shape;208;p46"/>
          <p:cNvPicPr preferRelativeResize="0"/>
          <p:nvPr/>
        </p:nvPicPr>
        <p:blipFill>
          <a:blip r:embed="rId5">
            <a:alphaModFix/>
          </a:blip>
          <a:stretch>
            <a:fillRect/>
          </a:stretch>
        </p:blipFill>
        <p:spPr>
          <a:xfrm>
            <a:off x="106250" y="1689375"/>
            <a:ext cx="2883425" cy="2883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7"/>
          <p:cNvSpPr txBox="1"/>
          <p:nvPr>
            <p:ph type="title"/>
          </p:nvPr>
        </p:nvSpPr>
        <p:spPr>
          <a:xfrm>
            <a:off x="400050" y="273844"/>
            <a:ext cx="7886700" cy="994200"/>
          </a:xfrm>
          <a:prstGeom prst="rect">
            <a:avLst/>
          </a:prstGeom>
          <a:noFill/>
          <a:ln>
            <a:noFill/>
          </a:ln>
        </p:spPr>
        <p:txBody>
          <a:bodyPr anchorCtr="0" anchor="ctr" bIns="29450" lIns="58925" spcFirstLastPara="1" rIns="58925" wrap="square" tIns="29450">
            <a:normAutofit/>
          </a:bodyPr>
          <a:lstStyle/>
          <a:p>
            <a:pPr indent="0" lvl="0" marL="0" rtl="0" algn="ctr">
              <a:lnSpc>
                <a:spcPct val="90000"/>
              </a:lnSpc>
              <a:spcBef>
                <a:spcPts val="0"/>
              </a:spcBef>
              <a:spcAft>
                <a:spcPts val="0"/>
              </a:spcAft>
              <a:buClr>
                <a:schemeClr val="dk1"/>
              </a:buClr>
              <a:buSzPts val="3000"/>
              <a:buFont typeface="Calibri"/>
              <a:buNone/>
            </a:pPr>
            <a:r>
              <a:rPr lang="en">
                <a:solidFill>
                  <a:schemeClr val="lt1"/>
                </a:solidFill>
              </a:rPr>
              <a:t>Recap: Convolutional Operation</a:t>
            </a:r>
            <a:endParaRPr>
              <a:solidFill>
                <a:schemeClr val="lt1"/>
              </a:solidFill>
            </a:endParaRPr>
          </a:p>
        </p:txBody>
      </p:sp>
      <p:sp>
        <p:nvSpPr>
          <p:cNvPr id="214" name="Google Shape;214;p47"/>
          <p:cNvSpPr txBox="1"/>
          <p:nvPr/>
        </p:nvSpPr>
        <p:spPr>
          <a:xfrm>
            <a:off x="4608575" y="2306050"/>
            <a:ext cx="4314600" cy="2214900"/>
          </a:xfrm>
          <a:prstGeom prst="rect">
            <a:avLst/>
          </a:prstGeom>
          <a:noFill/>
          <a:ln>
            <a:noFill/>
          </a:ln>
        </p:spPr>
        <p:txBody>
          <a:bodyPr anchorCtr="0" anchor="t" bIns="29450" lIns="58925" spcFirstLastPara="1" rIns="58925" wrap="square" tIns="29450">
            <a:noAutofit/>
          </a:bodyPr>
          <a:lstStyle/>
          <a:p>
            <a:pPr indent="0" lvl="0" marL="0" marR="0" rtl="0" algn="l">
              <a:lnSpc>
                <a:spcPct val="80000"/>
              </a:lnSpc>
              <a:spcBef>
                <a:spcPts val="0"/>
              </a:spcBef>
              <a:spcAft>
                <a:spcPts val="0"/>
              </a:spcAft>
              <a:buClr>
                <a:schemeClr val="dk1"/>
              </a:buClr>
              <a:buSzPts val="2100"/>
              <a:buFont typeface="Calibri"/>
              <a:buNone/>
            </a:pPr>
            <a:r>
              <a:rPr b="1" i="0" lang="en" sz="2100" u="none" cap="none" strike="noStrike">
                <a:solidFill>
                  <a:schemeClr val="lt1"/>
                </a:solidFill>
                <a:latin typeface="Calibri"/>
                <a:ea typeface="Calibri"/>
                <a:cs typeface="Calibri"/>
                <a:sym typeface="Calibri"/>
              </a:rPr>
              <a:t>1 number:</a:t>
            </a:r>
            <a:endParaRPr sz="900">
              <a:solidFill>
                <a:schemeClr val="lt1"/>
              </a:solidFill>
            </a:endParaRPr>
          </a:p>
          <a:p>
            <a:pPr indent="0" lvl="0" marL="0" marR="0" rtl="0" algn="l">
              <a:lnSpc>
                <a:spcPct val="80000"/>
              </a:lnSpc>
              <a:spcBef>
                <a:spcPts val="0"/>
              </a:spcBef>
              <a:spcAft>
                <a:spcPts val="0"/>
              </a:spcAft>
              <a:buClr>
                <a:schemeClr val="dk1"/>
              </a:buClr>
              <a:buSzPts val="2100"/>
              <a:buFont typeface="Calibri"/>
              <a:buNone/>
            </a:pPr>
            <a:r>
              <a:rPr b="0" i="0" lang="en" sz="2100" u="none" cap="none" strike="noStrike">
                <a:solidFill>
                  <a:schemeClr val="lt1"/>
                </a:solidFill>
                <a:latin typeface="Calibri"/>
                <a:ea typeface="Calibri"/>
                <a:cs typeface="Calibri"/>
                <a:sym typeface="Calibri"/>
              </a:rPr>
              <a:t>The result of taking a dot product between the filter and a small 5x5x3 chunk of the image (i.e. 5*5*3 = 75-dimensional dot product + bias)</a:t>
            </a:r>
            <a:endParaRPr b="0" i="0" sz="2100" u="none" cap="none" strike="noStrike">
              <a:solidFill>
                <a:schemeClr val="lt1"/>
              </a:solidFill>
              <a:latin typeface="Calibri"/>
              <a:ea typeface="Calibri"/>
              <a:cs typeface="Calibri"/>
              <a:sym typeface="Calibri"/>
            </a:endParaRPr>
          </a:p>
        </p:txBody>
      </p:sp>
      <p:pic>
        <p:nvPicPr>
          <p:cNvPr id="215" name="Google Shape;215;p47"/>
          <p:cNvPicPr preferRelativeResize="0"/>
          <p:nvPr/>
        </p:nvPicPr>
        <p:blipFill rotWithShape="1">
          <a:blip r:embed="rId3">
            <a:alphaModFix/>
          </a:blip>
          <a:srcRect b="0" l="0" r="0" t="0"/>
          <a:stretch/>
        </p:blipFill>
        <p:spPr>
          <a:xfrm>
            <a:off x="753680" y="2492105"/>
            <a:ext cx="2546991" cy="1868798"/>
          </a:xfrm>
          <a:prstGeom prst="rect">
            <a:avLst/>
          </a:prstGeom>
          <a:noFill/>
          <a:ln>
            <a:noFill/>
          </a:ln>
        </p:spPr>
      </p:pic>
      <p:pic>
        <p:nvPicPr>
          <p:cNvPr id="216" name="Google Shape;216;p47"/>
          <p:cNvPicPr preferRelativeResize="0"/>
          <p:nvPr/>
        </p:nvPicPr>
        <p:blipFill rotWithShape="1">
          <a:blip r:embed="rId4">
            <a:alphaModFix/>
          </a:blip>
          <a:srcRect b="0" l="0" r="0" t="0"/>
          <a:stretch/>
        </p:blipFill>
        <p:spPr>
          <a:xfrm>
            <a:off x="3036322" y="3910245"/>
            <a:ext cx="1005839" cy="478970"/>
          </a:xfrm>
          <a:prstGeom prst="rect">
            <a:avLst/>
          </a:prstGeom>
          <a:noFill/>
          <a:ln>
            <a:noFill/>
          </a:ln>
        </p:spPr>
      </p:pic>
      <p:cxnSp>
        <p:nvCxnSpPr>
          <p:cNvPr id="217" name="Google Shape;217;p47"/>
          <p:cNvCxnSpPr/>
          <p:nvPr/>
        </p:nvCxnSpPr>
        <p:spPr>
          <a:xfrm flipH="1">
            <a:off x="2790447" y="3385682"/>
            <a:ext cx="1587000" cy="71700"/>
          </a:xfrm>
          <a:prstGeom prst="straightConnector1">
            <a:avLst/>
          </a:prstGeom>
          <a:noFill/>
          <a:ln cap="flat" cmpd="sng" w="9525">
            <a:solidFill>
              <a:schemeClr val="dk1"/>
            </a:solidFill>
            <a:prstDash val="solid"/>
            <a:miter lim="800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8"/>
          <p:cNvSpPr txBox="1"/>
          <p:nvPr/>
        </p:nvSpPr>
        <p:spPr>
          <a:xfrm>
            <a:off x="6295025" y="2191000"/>
            <a:ext cx="2535600" cy="182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Example: </a:t>
            </a:r>
            <a:br>
              <a:rPr lang="en">
                <a:latin typeface="Open Sans"/>
                <a:ea typeface="Open Sans"/>
                <a:cs typeface="Open Sans"/>
                <a:sym typeface="Open Sans"/>
              </a:rPr>
            </a:br>
            <a:r>
              <a:rPr lang="en">
                <a:latin typeface="Open Sans"/>
                <a:ea typeface="Open Sans"/>
                <a:cs typeface="Open Sans"/>
                <a:sym typeface="Open Sans"/>
              </a:rPr>
              <a:t>Input = 7x7, Kernel Size = 3x3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Output = 5x5</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Formula: N - K + 1</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N - input size, K - kernel size</a:t>
            </a:r>
            <a:endParaRPr>
              <a:solidFill>
                <a:srgbClr val="FF0000"/>
              </a:solidFill>
              <a:latin typeface="Open Sans"/>
              <a:ea typeface="Open Sans"/>
              <a:cs typeface="Open Sans"/>
              <a:sym typeface="Open Sans"/>
            </a:endParaRPr>
          </a:p>
          <a:p>
            <a:pPr indent="0" lvl="0" marL="0" rtl="0" algn="l">
              <a:spcBef>
                <a:spcPts val="0"/>
              </a:spcBef>
              <a:spcAft>
                <a:spcPts val="0"/>
              </a:spcAft>
              <a:buNone/>
            </a:pPr>
            <a:r>
              <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solidFill>
                  <a:schemeClr val="lt1"/>
                </a:solidFill>
                <a:latin typeface="Open Sans"/>
                <a:ea typeface="Open Sans"/>
                <a:cs typeface="Open Sans"/>
                <a:sym typeface="Open Sans"/>
              </a:rPr>
              <a:t>7 - 3 + 1 = 5</a:t>
            </a:r>
            <a:endParaRPr>
              <a:solidFill>
                <a:schemeClr val="lt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23" name="Google Shape;223;p48"/>
          <p:cNvSpPr txBox="1"/>
          <p:nvPr>
            <p:ph type="title"/>
          </p:nvPr>
        </p:nvSpPr>
        <p:spPr>
          <a:xfrm>
            <a:off x="628650" y="273844"/>
            <a:ext cx="7886700" cy="994200"/>
          </a:xfrm>
          <a:prstGeom prst="rect">
            <a:avLst/>
          </a:prstGeom>
        </p:spPr>
        <p:txBody>
          <a:bodyPr anchorCtr="0" anchor="ctr" bIns="29450" lIns="58925" spcFirstLastPara="1" rIns="58925" wrap="square" tIns="29450">
            <a:normAutofit/>
          </a:bodyPr>
          <a:lstStyle/>
          <a:p>
            <a:pPr indent="0" lvl="0" marL="0" rtl="0" algn="ctr">
              <a:spcBef>
                <a:spcPts val="0"/>
              </a:spcBef>
              <a:spcAft>
                <a:spcPts val="0"/>
              </a:spcAft>
              <a:buNone/>
            </a:pPr>
            <a:r>
              <a:rPr lang="en">
                <a:solidFill>
                  <a:schemeClr val="lt1"/>
                </a:solidFill>
              </a:rPr>
              <a:t>Recap: Applying convolutional filter</a:t>
            </a:r>
            <a:endParaRPr>
              <a:solidFill>
                <a:schemeClr val="lt1"/>
              </a:solidFill>
            </a:endParaRPr>
          </a:p>
        </p:txBody>
      </p:sp>
      <p:pic>
        <p:nvPicPr>
          <p:cNvPr id="224" name="Google Shape;224;p48"/>
          <p:cNvPicPr preferRelativeResize="0"/>
          <p:nvPr/>
        </p:nvPicPr>
        <p:blipFill rotWithShape="1">
          <a:blip r:embed="rId3">
            <a:alphaModFix/>
          </a:blip>
          <a:srcRect b="0" l="0" r="0" t="0"/>
          <a:stretch/>
        </p:blipFill>
        <p:spPr>
          <a:xfrm>
            <a:off x="623025" y="2033325"/>
            <a:ext cx="1875900" cy="1985725"/>
          </a:xfrm>
          <a:prstGeom prst="rect">
            <a:avLst/>
          </a:prstGeom>
          <a:noFill/>
          <a:ln>
            <a:noFill/>
          </a:ln>
        </p:spPr>
      </p:pic>
      <p:pic>
        <p:nvPicPr>
          <p:cNvPr id="225" name="Google Shape;225;p48"/>
          <p:cNvPicPr preferRelativeResize="0"/>
          <p:nvPr/>
        </p:nvPicPr>
        <p:blipFill rotWithShape="1">
          <a:blip r:embed="rId4">
            <a:alphaModFix/>
          </a:blip>
          <a:srcRect b="0" l="0" r="0" t="0"/>
          <a:stretch/>
        </p:blipFill>
        <p:spPr>
          <a:xfrm>
            <a:off x="2498925" y="2048000"/>
            <a:ext cx="1826725" cy="1892100"/>
          </a:xfrm>
          <a:prstGeom prst="rect">
            <a:avLst/>
          </a:prstGeom>
          <a:noFill/>
          <a:ln>
            <a:noFill/>
          </a:ln>
        </p:spPr>
      </p:pic>
      <p:pic>
        <p:nvPicPr>
          <p:cNvPr id="226" name="Google Shape;226;p48"/>
          <p:cNvPicPr preferRelativeResize="0"/>
          <p:nvPr/>
        </p:nvPicPr>
        <p:blipFill rotWithShape="1">
          <a:blip r:embed="rId5">
            <a:alphaModFix/>
          </a:blip>
          <a:srcRect b="0" l="0" r="0" t="0"/>
          <a:stretch/>
        </p:blipFill>
        <p:spPr>
          <a:xfrm>
            <a:off x="4431200" y="2009500"/>
            <a:ext cx="1826725" cy="19187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9"/>
          <p:cNvSpPr txBox="1"/>
          <p:nvPr>
            <p:ph type="title"/>
          </p:nvPr>
        </p:nvSpPr>
        <p:spPr>
          <a:xfrm>
            <a:off x="628650" y="273844"/>
            <a:ext cx="7886700" cy="994200"/>
          </a:xfrm>
          <a:prstGeom prst="rect">
            <a:avLst/>
          </a:prstGeom>
        </p:spPr>
        <p:txBody>
          <a:bodyPr anchorCtr="0" anchor="ctr" bIns="29450" lIns="58925" spcFirstLastPara="1" rIns="58925" wrap="square" tIns="29450">
            <a:normAutofit/>
          </a:bodyPr>
          <a:lstStyle/>
          <a:p>
            <a:pPr indent="0" lvl="0" marL="0" rtl="0" algn="ctr">
              <a:spcBef>
                <a:spcPts val="0"/>
              </a:spcBef>
              <a:spcAft>
                <a:spcPts val="0"/>
              </a:spcAft>
              <a:buNone/>
            </a:pPr>
            <a:r>
              <a:rPr lang="en">
                <a:solidFill>
                  <a:schemeClr val="lt1"/>
                </a:solidFill>
              </a:rPr>
              <a:t>Recap: Padding</a:t>
            </a:r>
            <a:endParaRPr>
              <a:solidFill>
                <a:schemeClr val="lt1"/>
              </a:solidFill>
            </a:endParaRPr>
          </a:p>
        </p:txBody>
      </p:sp>
      <p:sp>
        <p:nvSpPr>
          <p:cNvPr id="232" name="Google Shape;232;p49"/>
          <p:cNvSpPr txBox="1"/>
          <p:nvPr>
            <p:ph idx="1" type="body"/>
          </p:nvPr>
        </p:nvSpPr>
        <p:spPr>
          <a:xfrm>
            <a:off x="628650" y="1369218"/>
            <a:ext cx="7886700" cy="3263700"/>
          </a:xfrm>
          <a:prstGeom prst="rect">
            <a:avLst/>
          </a:prstGeom>
        </p:spPr>
        <p:txBody>
          <a:bodyPr anchorCtr="0" anchor="t" bIns="29450" lIns="58925" spcFirstLastPara="1" rIns="58925" wrap="square" tIns="29450">
            <a:normAutofit/>
          </a:bodyPr>
          <a:lstStyle/>
          <a:p>
            <a:pPr indent="0" lvl="0" marL="0" rtl="0" algn="l">
              <a:spcBef>
                <a:spcPts val="700"/>
              </a:spcBef>
              <a:spcAft>
                <a:spcPts val="1200"/>
              </a:spcAft>
              <a:buNone/>
            </a:pPr>
            <a:r>
              <a:t/>
            </a:r>
            <a:endParaRPr/>
          </a:p>
        </p:txBody>
      </p:sp>
      <p:pic>
        <p:nvPicPr>
          <p:cNvPr id="233" name="Google Shape;233;p49"/>
          <p:cNvPicPr preferRelativeResize="0"/>
          <p:nvPr/>
        </p:nvPicPr>
        <p:blipFill rotWithShape="1">
          <a:blip r:embed="rId3">
            <a:alphaModFix/>
          </a:blip>
          <a:srcRect b="0" l="0" r="0" t="0"/>
          <a:stretch/>
        </p:blipFill>
        <p:spPr>
          <a:xfrm>
            <a:off x="566952" y="1293029"/>
            <a:ext cx="2657200" cy="3451550"/>
          </a:xfrm>
          <a:prstGeom prst="rect">
            <a:avLst/>
          </a:prstGeom>
          <a:noFill/>
          <a:ln>
            <a:noFill/>
          </a:ln>
        </p:spPr>
      </p:pic>
      <p:sp>
        <p:nvSpPr>
          <p:cNvPr id="234" name="Google Shape;234;p49"/>
          <p:cNvSpPr txBox="1"/>
          <p:nvPr/>
        </p:nvSpPr>
        <p:spPr>
          <a:xfrm>
            <a:off x="3406450" y="1443800"/>
            <a:ext cx="3868800" cy="3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Add pixels on the border</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Usually zeros (other options used as well)</a:t>
            </a:r>
            <a:br>
              <a:rPr lang="en">
                <a:latin typeface="Open Sans"/>
                <a:ea typeface="Open Sans"/>
                <a:cs typeface="Open Sans"/>
                <a:sym typeface="Open Sans"/>
              </a:rPr>
            </a:b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Example:</a:t>
            </a:r>
            <a:br>
              <a:rPr lang="en">
                <a:latin typeface="Open Sans"/>
                <a:ea typeface="Open Sans"/>
                <a:cs typeface="Open Sans"/>
                <a:sym typeface="Open Sans"/>
              </a:rPr>
            </a:br>
            <a:r>
              <a:rPr lang="en">
                <a:latin typeface="Open Sans"/>
                <a:ea typeface="Open Sans"/>
                <a:cs typeface="Open Sans"/>
                <a:sym typeface="Open Sans"/>
              </a:rPr>
              <a:t>Input = 7x7, Padding = 1, Kernel Size = 3x3</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Formula: N - K + 2 * P + 1 </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N - input size, K - kernel size, Padding size</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7 - 3 + 2 * 1 + 1 = 7</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Output size: 7x7</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Recap: Stride</a:t>
            </a:r>
            <a:endParaRPr>
              <a:solidFill>
                <a:schemeClr val="lt1"/>
              </a:solidFill>
            </a:endParaRPr>
          </a:p>
        </p:txBody>
      </p:sp>
      <p:sp>
        <p:nvSpPr>
          <p:cNvPr id="240" name="Google Shape;240;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lt1"/>
                </a:solidFill>
              </a:rPr>
              <a:t>Skip L starting positions when aligning the kernel with the input</a:t>
            </a:r>
            <a:endParaRPr>
              <a:solidFill>
                <a:schemeClr val="lt1"/>
              </a:solidFill>
            </a:endParaRPr>
          </a:p>
          <a:p>
            <a:pPr indent="0" lvl="0" marL="0" rtl="0" algn="l">
              <a:spcBef>
                <a:spcPts val="1200"/>
              </a:spcBef>
              <a:spcAft>
                <a:spcPts val="0"/>
              </a:spcAft>
              <a:buNone/>
            </a:pPr>
            <a:r>
              <a:rPr lang="en">
                <a:solidFill>
                  <a:schemeClr val="lt1"/>
                </a:solidFill>
              </a:rPr>
              <a:t>L = 2 =&gt; skip every second starting position</a:t>
            </a:r>
            <a:endParaRPr>
              <a:solidFill>
                <a:schemeClr val="lt1"/>
              </a:solidFill>
            </a:endParaRPr>
          </a:p>
          <a:p>
            <a:pPr indent="0" lvl="0" marL="0" rtl="0" algn="l">
              <a:spcBef>
                <a:spcPts val="1200"/>
              </a:spcBef>
              <a:spcAft>
                <a:spcPts val="0"/>
              </a:spcAft>
              <a:buNone/>
            </a:pPr>
            <a:r>
              <a:rPr lang="en">
                <a:solidFill>
                  <a:schemeClr val="lt1"/>
                </a:solidFill>
              </a:rPr>
              <a:t>Example: Input = 5x5, Kernel Size = 3x3, Stride = 2, Padding = 1</a:t>
            </a:r>
            <a:endParaRPr>
              <a:solidFill>
                <a:schemeClr val="lt1"/>
              </a:solidFill>
            </a:endParaRPr>
          </a:p>
          <a:p>
            <a:pPr indent="0" lvl="0" marL="0" rtl="0" algn="l">
              <a:lnSpc>
                <a:spcPct val="100000"/>
              </a:lnSpc>
              <a:spcBef>
                <a:spcPts val="1200"/>
              </a:spcBef>
              <a:spcAft>
                <a:spcPts val="0"/>
              </a:spcAft>
              <a:buNone/>
            </a:pPr>
            <a:r>
              <a:rPr lang="en">
                <a:solidFill>
                  <a:srgbClr val="FF0000"/>
                </a:solidFill>
                <a:latin typeface="Open Sans"/>
                <a:ea typeface="Open Sans"/>
                <a:cs typeface="Open Sans"/>
                <a:sym typeface="Open Sans"/>
              </a:rPr>
              <a:t>Output size: </a:t>
            </a:r>
            <a:endParaRPr>
              <a:solidFill>
                <a:srgbClr val="FF0000"/>
              </a:solidFill>
              <a:latin typeface="Open Sans"/>
              <a:ea typeface="Open Sans"/>
              <a:cs typeface="Open Sans"/>
              <a:sym typeface="Open Sans"/>
            </a:endParaRPr>
          </a:p>
          <a:p>
            <a:pPr indent="0" lvl="0" marL="0" rtl="0" algn="l">
              <a:lnSpc>
                <a:spcPct val="100000"/>
              </a:lnSpc>
              <a:spcBef>
                <a:spcPts val="0"/>
              </a:spcBef>
              <a:spcAft>
                <a:spcPts val="0"/>
              </a:spcAft>
              <a:buNone/>
            </a:pPr>
            <a:r>
              <a:rPr lang="en">
                <a:solidFill>
                  <a:srgbClr val="FF0000"/>
                </a:solidFill>
                <a:latin typeface="Open Sans"/>
                <a:ea typeface="Open Sans"/>
                <a:cs typeface="Open Sans"/>
                <a:sym typeface="Open Sans"/>
              </a:rPr>
              <a:t>(N - K + 2*P) / stride + 1</a:t>
            </a:r>
            <a:endParaRPr>
              <a:solidFill>
                <a:srgbClr val="FF0000"/>
              </a:solidFill>
              <a:latin typeface="Open Sans"/>
              <a:ea typeface="Open Sans"/>
              <a:cs typeface="Open Sans"/>
              <a:sym typeface="Open Sans"/>
            </a:endParaRPr>
          </a:p>
          <a:p>
            <a:pPr indent="0" lvl="0" marL="0" rtl="0" algn="l">
              <a:lnSpc>
                <a:spcPct val="100000"/>
              </a:lnSpc>
              <a:spcBef>
                <a:spcPts val="0"/>
              </a:spcBef>
              <a:spcAft>
                <a:spcPts val="0"/>
              </a:spcAft>
              <a:buNone/>
            </a:pPr>
            <a:r>
              <a:rPr lang="en">
                <a:solidFill>
                  <a:srgbClr val="FF0000"/>
                </a:solidFill>
                <a:latin typeface="Open Sans"/>
                <a:ea typeface="Open Sans"/>
                <a:cs typeface="Open Sans"/>
                <a:sym typeface="Open Sans"/>
              </a:rPr>
              <a:t>N - input size</a:t>
            </a:r>
            <a:br>
              <a:rPr lang="en">
                <a:solidFill>
                  <a:srgbClr val="FF0000"/>
                </a:solidFill>
                <a:latin typeface="Open Sans"/>
                <a:ea typeface="Open Sans"/>
                <a:cs typeface="Open Sans"/>
                <a:sym typeface="Open Sans"/>
              </a:rPr>
            </a:br>
            <a:r>
              <a:rPr lang="en">
                <a:solidFill>
                  <a:srgbClr val="FF0000"/>
                </a:solidFill>
                <a:latin typeface="Open Sans"/>
                <a:ea typeface="Open Sans"/>
                <a:cs typeface="Open Sans"/>
                <a:sym typeface="Open Sans"/>
              </a:rPr>
              <a:t>K - kernel size</a:t>
            </a:r>
            <a:endParaRPr>
              <a:solidFill>
                <a:srgbClr val="FF0000"/>
              </a:solidFill>
              <a:latin typeface="Open Sans"/>
              <a:ea typeface="Open Sans"/>
              <a:cs typeface="Open Sans"/>
              <a:sym typeface="Open Sans"/>
            </a:endParaRPr>
          </a:p>
          <a:p>
            <a:pPr indent="0" lvl="0" marL="0" rtl="0" algn="l">
              <a:lnSpc>
                <a:spcPct val="100000"/>
              </a:lnSpc>
              <a:spcBef>
                <a:spcPts val="0"/>
              </a:spcBef>
              <a:spcAft>
                <a:spcPts val="0"/>
              </a:spcAft>
              <a:buNone/>
            </a:pPr>
            <a:r>
              <a:rPr lang="en">
                <a:solidFill>
                  <a:schemeClr val="lt1"/>
                </a:solidFill>
                <a:latin typeface="Open Sans"/>
                <a:ea typeface="Open Sans"/>
                <a:cs typeface="Open Sans"/>
                <a:sym typeface="Open Sans"/>
              </a:rPr>
              <a:t>(5 - 3 + 2* 1) / 2 + 1</a:t>
            </a:r>
            <a:endParaRPr>
              <a:solidFill>
                <a:schemeClr val="lt1"/>
              </a:solidFill>
              <a:latin typeface="Open Sans"/>
              <a:ea typeface="Open Sans"/>
              <a:cs typeface="Open Sans"/>
              <a:sym typeface="Open Sans"/>
            </a:endParaRPr>
          </a:p>
          <a:p>
            <a:pPr indent="0" lvl="0" marL="0" rtl="0" algn="l">
              <a:lnSpc>
                <a:spcPct val="100000"/>
              </a:lnSpc>
              <a:spcBef>
                <a:spcPts val="0"/>
              </a:spcBef>
              <a:spcAft>
                <a:spcPts val="0"/>
              </a:spcAft>
              <a:buNone/>
            </a:pPr>
            <a:r>
              <a:rPr lang="en">
                <a:solidFill>
                  <a:schemeClr val="lt1"/>
                </a:solidFill>
                <a:latin typeface="Open Sans"/>
                <a:ea typeface="Open Sans"/>
                <a:cs typeface="Open Sans"/>
                <a:sym typeface="Open Sans"/>
              </a:rPr>
              <a:t>Output 3x3</a:t>
            </a:r>
            <a:endParaRPr>
              <a:solidFill>
                <a:schemeClr val="lt1"/>
              </a:solidFill>
              <a:latin typeface="Open Sans"/>
              <a:ea typeface="Open Sans"/>
              <a:cs typeface="Open Sans"/>
              <a:sym typeface="Open Sans"/>
            </a:endParaRPr>
          </a:p>
          <a:p>
            <a:pPr indent="0" lvl="0" marL="0" rtl="0" algn="l">
              <a:lnSpc>
                <a:spcPct val="100000"/>
              </a:lnSpc>
              <a:spcBef>
                <a:spcPts val="0"/>
              </a:spcBef>
              <a:spcAft>
                <a:spcPts val="0"/>
              </a:spcAft>
              <a:buNone/>
            </a:pPr>
            <a:r>
              <a:t/>
            </a:r>
            <a:endParaRPr>
              <a:solidFill>
                <a:srgbClr val="FF0000"/>
              </a:solidFill>
              <a:latin typeface="Open Sans"/>
              <a:ea typeface="Open Sans"/>
              <a:cs typeface="Open Sans"/>
              <a:sym typeface="Open Sans"/>
            </a:endParaRPr>
          </a:p>
        </p:txBody>
      </p:sp>
      <p:pic>
        <p:nvPicPr>
          <p:cNvPr id="241" name="Google Shape;241;p50"/>
          <p:cNvPicPr preferRelativeResize="0"/>
          <p:nvPr/>
        </p:nvPicPr>
        <p:blipFill>
          <a:blip r:embed="rId3">
            <a:alphaModFix/>
          </a:blip>
          <a:stretch>
            <a:fillRect/>
          </a:stretch>
        </p:blipFill>
        <p:spPr>
          <a:xfrm>
            <a:off x="5992825" y="2571748"/>
            <a:ext cx="2051059" cy="1856350"/>
          </a:xfrm>
          <a:prstGeom prst="rect">
            <a:avLst/>
          </a:prstGeom>
          <a:noFill/>
          <a:ln>
            <a:noFill/>
          </a:ln>
        </p:spPr>
      </p:pic>
      <p:pic>
        <p:nvPicPr>
          <p:cNvPr id="242" name="Google Shape;242;p50"/>
          <p:cNvPicPr preferRelativeResize="0"/>
          <p:nvPr/>
        </p:nvPicPr>
        <p:blipFill>
          <a:blip r:embed="rId4">
            <a:alphaModFix/>
          </a:blip>
          <a:stretch>
            <a:fillRect/>
          </a:stretch>
        </p:blipFill>
        <p:spPr>
          <a:xfrm>
            <a:off x="3659575" y="2672700"/>
            <a:ext cx="1997447" cy="19455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1"/>
          <p:cNvSpPr txBox="1"/>
          <p:nvPr>
            <p:ph type="title"/>
          </p:nvPr>
        </p:nvSpPr>
        <p:spPr>
          <a:xfrm>
            <a:off x="386280" y="511475"/>
            <a:ext cx="8140200" cy="547500"/>
          </a:xfrm>
          <a:prstGeom prst="rect">
            <a:avLst/>
          </a:prstGeom>
          <a:noFill/>
          <a:ln>
            <a:noFill/>
          </a:ln>
        </p:spPr>
        <p:txBody>
          <a:bodyPr anchorCtr="0" anchor="ctr" bIns="29450" lIns="58925" spcFirstLastPara="1" rIns="58925" wrap="square" tIns="29450">
            <a:normAutofit/>
          </a:bodyPr>
          <a:lstStyle/>
          <a:p>
            <a:pPr indent="0" lvl="0" marL="0" rtl="0" algn="ctr">
              <a:lnSpc>
                <a:spcPct val="90000"/>
              </a:lnSpc>
              <a:spcBef>
                <a:spcPts val="0"/>
              </a:spcBef>
              <a:spcAft>
                <a:spcPts val="0"/>
              </a:spcAft>
              <a:buClr>
                <a:schemeClr val="dk1"/>
              </a:buClr>
              <a:buSzPts val="3000"/>
              <a:buFont typeface="Calibri"/>
              <a:buNone/>
            </a:pPr>
            <a:r>
              <a:rPr lang="en">
                <a:solidFill>
                  <a:schemeClr val="lt1"/>
                </a:solidFill>
              </a:rPr>
              <a:t>Recap: Convolutional Layer</a:t>
            </a:r>
            <a:endParaRPr>
              <a:solidFill>
                <a:schemeClr val="lt1"/>
              </a:solidFill>
            </a:endParaRPr>
          </a:p>
        </p:txBody>
      </p:sp>
      <p:pic>
        <p:nvPicPr>
          <p:cNvPr id="248" name="Google Shape;248;p51"/>
          <p:cNvPicPr preferRelativeResize="0"/>
          <p:nvPr/>
        </p:nvPicPr>
        <p:blipFill rotWithShape="1">
          <a:blip r:embed="rId3">
            <a:alphaModFix/>
          </a:blip>
          <a:srcRect b="0" l="0" r="0" t="0"/>
          <a:stretch/>
        </p:blipFill>
        <p:spPr>
          <a:xfrm>
            <a:off x="753680" y="1821511"/>
            <a:ext cx="3460944" cy="2539391"/>
          </a:xfrm>
          <a:prstGeom prst="rect">
            <a:avLst/>
          </a:prstGeom>
          <a:noFill/>
          <a:ln>
            <a:noFill/>
          </a:ln>
        </p:spPr>
      </p:pic>
      <p:cxnSp>
        <p:nvCxnSpPr>
          <p:cNvPr id="249" name="Google Shape;249;p51"/>
          <p:cNvCxnSpPr/>
          <p:nvPr/>
        </p:nvCxnSpPr>
        <p:spPr>
          <a:xfrm flipH="1" rot="10800000">
            <a:off x="3466335" y="3091322"/>
            <a:ext cx="2908500" cy="13200"/>
          </a:xfrm>
          <a:prstGeom prst="straightConnector1">
            <a:avLst/>
          </a:prstGeom>
          <a:noFill/>
          <a:ln cap="flat" cmpd="sng" w="9525">
            <a:solidFill>
              <a:schemeClr val="lt1"/>
            </a:solidFill>
            <a:prstDash val="solid"/>
            <a:miter lim="800000"/>
            <a:headEnd len="sm" w="sm" type="none"/>
            <a:tailEnd len="med" w="med" type="triangle"/>
          </a:ln>
        </p:spPr>
      </p:cxnSp>
      <p:sp>
        <p:nvSpPr>
          <p:cNvPr id="250" name="Google Shape;250;p51"/>
          <p:cNvSpPr txBox="1"/>
          <p:nvPr/>
        </p:nvSpPr>
        <p:spPr>
          <a:xfrm>
            <a:off x="3712576" y="3216849"/>
            <a:ext cx="2819100" cy="547500"/>
          </a:xfrm>
          <a:prstGeom prst="rect">
            <a:avLst/>
          </a:prstGeom>
          <a:noFill/>
          <a:ln>
            <a:noFill/>
          </a:ln>
        </p:spPr>
        <p:txBody>
          <a:bodyPr anchorCtr="0" anchor="t" bIns="29450" lIns="58925" spcFirstLastPara="1" rIns="58925" wrap="square" tIns="29450">
            <a:noAutofit/>
          </a:bodyPr>
          <a:lstStyle/>
          <a:p>
            <a:pPr indent="0" lvl="0" marL="0" marR="0" rtl="0" algn="l">
              <a:lnSpc>
                <a:spcPct val="70000"/>
              </a:lnSpc>
              <a:spcBef>
                <a:spcPts val="0"/>
              </a:spcBef>
              <a:spcAft>
                <a:spcPts val="0"/>
              </a:spcAft>
              <a:buClr>
                <a:schemeClr val="dk1"/>
              </a:buClr>
              <a:buSzPts val="1800"/>
              <a:buFont typeface="Calibri"/>
              <a:buNone/>
            </a:pPr>
            <a:r>
              <a:rPr b="0" i="0" lang="en" sz="1800" u="none" cap="none" strike="noStrike">
                <a:solidFill>
                  <a:schemeClr val="lt1"/>
                </a:solidFill>
                <a:latin typeface="Calibri"/>
                <a:ea typeface="Calibri"/>
                <a:cs typeface="Calibri"/>
                <a:sym typeface="Calibri"/>
              </a:rPr>
              <a:t>convolve (slide) over all spatial locations</a:t>
            </a:r>
            <a:endParaRPr b="0" i="0" sz="1800" u="none" cap="none" strike="noStrike">
              <a:solidFill>
                <a:schemeClr val="lt1"/>
              </a:solidFill>
              <a:latin typeface="Calibri"/>
              <a:ea typeface="Calibri"/>
              <a:cs typeface="Calibri"/>
              <a:sym typeface="Calibri"/>
            </a:endParaRPr>
          </a:p>
        </p:txBody>
      </p:sp>
      <p:pic>
        <p:nvPicPr>
          <p:cNvPr id="251" name="Google Shape;251;p51"/>
          <p:cNvPicPr preferRelativeResize="0"/>
          <p:nvPr/>
        </p:nvPicPr>
        <p:blipFill rotWithShape="1">
          <a:blip r:embed="rId4">
            <a:alphaModFix/>
          </a:blip>
          <a:srcRect b="0" l="0" r="0" t="0"/>
          <a:stretch/>
        </p:blipFill>
        <p:spPr>
          <a:xfrm>
            <a:off x="6730325" y="2010890"/>
            <a:ext cx="1288635" cy="2424026"/>
          </a:xfrm>
          <a:prstGeom prst="rect">
            <a:avLst/>
          </a:prstGeom>
          <a:noFill/>
          <a:ln>
            <a:noFill/>
          </a:ln>
        </p:spPr>
      </p:pic>
      <p:sp>
        <p:nvSpPr>
          <p:cNvPr id="252" name="Google Shape;252;p51"/>
          <p:cNvSpPr txBox="1"/>
          <p:nvPr/>
        </p:nvSpPr>
        <p:spPr>
          <a:xfrm>
            <a:off x="6730325" y="1595590"/>
            <a:ext cx="1967700" cy="451800"/>
          </a:xfrm>
          <a:prstGeom prst="rect">
            <a:avLst/>
          </a:prstGeom>
          <a:noFill/>
          <a:ln>
            <a:noFill/>
          </a:ln>
        </p:spPr>
        <p:txBody>
          <a:bodyPr anchorCtr="0" anchor="ctr" bIns="29450" lIns="58925" spcFirstLastPara="1" rIns="58925" wrap="square" tIns="29450">
            <a:noAutofit/>
          </a:bodyPr>
          <a:lstStyle/>
          <a:p>
            <a:pPr indent="0" lvl="0" marL="0" marR="0" rtl="0" algn="l">
              <a:lnSpc>
                <a:spcPct val="90000"/>
              </a:lnSpc>
              <a:spcBef>
                <a:spcPts val="0"/>
              </a:spcBef>
              <a:spcAft>
                <a:spcPts val="0"/>
              </a:spcAft>
              <a:buClr>
                <a:schemeClr val="dk1"/>
              </a:buClr>
              <a:buSzPts val="2100"/>
              <a:buFont typeface="Calibri"/>
              <a:buNone/>
            </a:pPr>
            <a:r>
              <a:rPr b="0" i="0" lang="en" sz="2100" u="none" cap="none" strike="noStrike">
                <a:solidFill>
                  <a:schemeClr val="dk1"/>
                </a:solidFill>
                <a:latin typeface="Calibri"/>
                <a:ea typeface="Calibri"/>
                <a:cs typeface="Calibri"/>
                <a:sym typeface="Calibri"/>
              </a:rPr>
              <a:t>Activation map</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2"/>
          <p:cNvSpPr txBox="1"/>
          <p:nvPr>
            <p:ph type="title"/>
          </p:nvPr>
        </p:nvSpPr>
        <p:spPr>
          <a:xfrm>
            <a:off x="330500" y="498450"/>
            <a:ext cx="7498500" cy="533700"/>
          </a:xfrm>
          <a:prstGeom prst="rect">
            <a:avLst/>
          </a:prstGeom>
          <a:noFill/>
          <a:ln>
            <a:noFill/>
          </a:ln>
        </p:spPr>
        <p:txBody>
          <a:bodyPr anchorCtr="0" anchor="ctr" bIns="29450" lIns="58925" spcFirstLastPara="1" rIns="58925" wrap="square" tIns="29450">
            <a:normAutofit/>
          </a:bodyPr>
          <a:lstStyle/>
          <a:p>
            <a:pPr indent="0" lvl="0" marL="0" rtl="0" algn="ctr">
              <a:lnSpc>
                <a:spcPct val="90000"/>
              </a:lnSpc>
              <a:spcBef>
                <a:spcPts val="0"/>
              </a:spcBef>
              <a:spcAft>
                <a:spcPts val="0"/>
              </a:spcAft>
              <a:buClr>
                <a:schemeClr val="dk1"/>
              </a:buClr>
              <a:buSzPts val="3000"/>
              <a:buFont typeface="Calibri"/>
              <a:buNone/>
            </a:pPr>
            <a:r>
              <a:rPr lang="en">
                <a:solidFill>
                  <a:schemeClr val="lt1"/>
                </a:solidFill>
              </a:rPr>
              <a:t>Recap: Convolutional Neural Network</a:t>
            </a:r>
            <a:endParaRPr>
              <a:solidFill>
                <a:schemeClr val="lt1"/>
              </a:solidFill>
            </a:endParaRPr>
          </a:p>
        </p:txBody>
      </p:sp>
      <p:sp>
        <p:nvSpPr>
          <p:cNvPr id="258" name="Google Shape;258;p52"/>
          <p:cNvSpPr txBox="1"/>
          <p:nvPr/>
        </p:nvSpPr>
        <p:spPr>
          <a:xfrm>
            <a:off x="628650" y="1200925"/>
            <a:ext cx="6333600" cy="451800"/>
          </a:xfrm>
          <a:prstGeom prst="rect">
            <a:avLst/>
          </a:prstGeom>
          <a:noFill/>
          <a:ln>
            <a:noFill/>
          </a:ln>
        </p:spPr>
        <p:txBody>
          <a:bodyPr anchorCtr="0" anchor="ctr" bIns="29450" lIns="58925" spcFirstLastPara="1" rIns="58925" wrap="square" tIns="29450">
            <a:noAutofit/>
          </a:bodyPr>
          <a:lstStyle/>
          <a:p>
            <a:pPr indent="0" lvl="0" marL="0" marR="0" rtl="0" algn="l">
              <a:lnSpc>
                <a:spcPct val="80000"/>
              </a:lnSpc>
              <a:spcBef>
                <a:spcPts val="0"/>
              </a:spcBef>
              <a:spcAft>
                <a:spcPts val="0"/>
              </a:spcAft>
              <a:buClr>
                <a:schemeClr val="dk1"/>
              </a:buClr>
              <a:buSzPts val="1900"/>
              <a:buFont typeface="Calibri"/>
              <a:buNone/>
            </a:pPr>
            <a:r>
              <a:rPr b="0" i="0" lang="en" sz="1900" u="none" cap="none" strike="noStrike">
                <a:solidFill>
                  <a:schemeClr val="lt1"/>
                </a:solidFill>
                <a:latin typeface="Calibri"/>
                <a:ea typeface="Calibri"/>
                <a:cs typeface="Calibri"/>
                <a:sym typeface="Calibri"/>
              </a:rPr>
              <a:t>ConvNet is a sequence of Convolution Layers, interspersed with activation functions</a:t>
            </a:r>
            <a:endParaRPr b="1" i="0" sz="1900" u="none" cap="none" strike="noStrike">
              <a:solidFill>
                <a:schemeClr val="lt1"/>
              </a:solidFill>
              <a:latin typeface="Calibri"/>
              <a:ea typeface="Calibri"/>
              <a:cs typeface="Calibri"/>
              <a:sym typeface="Calibri"/>
            </a:endParaRPr>
          </a:p>
        </p:txBody>
      </p:sp>
      <p:pic>
        <p:nvPicPr>
          <p:cNvPr id="259" name="Google Shape;259;p52"/>
          <p:cNvPicPr preferRelativeResize="0"/>
          <p:nvPr/>
        </p:nvPicPr>
        <p:blipFill rotWithShape="1">
          <a:blip r:embed="rId3">
            <a:alphaModFix/>
          </a:blip>
          <a:srcRect b="0" l="0" r="0" t="0"/>
          <a:stretch/>
        </p:blipFill>
        <p:spPr>
          <a:xfrm>
            <a:off x="745154" y="2195097"/>
            <a:ext cx="3084431" cy="2370443"/>
          </a:xfrm>
          <a:prstGeom prst="rect">
            <a:avLst/>
          </a:prstGeom>
          <a:noFill/>
          <a:ln>
            <a:noFill/>
          </a:ln>
        </p:spPr>
      </p:pic>
      <p:pic>
        <p:nvPicPr>
          <p:cNvPr id="260" name="Google Shape;260;p52"/>
          <p:cNvPicPr preferRelativeResize="0"/>
          <p:nvPr/>
        </p:nvPicPr>
        <p:blipFill rotWithShape="1">
          <a:blip r:embed="rId4">
            <a:alphaModFix/>
          </a:blip>
          <a:srcRect b="0" l="0" r="0" t="0"/>
          <a:stretch/>
        </p:blipFill>
        <p:spPr>
          <a:xfrm>
            <a:off x="252687" y="2144325"/>
            <a:ext cx="6592705" cy="24212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Recap: </a:t>
            </a:r>
            <a:r>
              <a:rPr lang="en">
                <a:solidFill>
                  <a:schemeClr val="lt1"/>
                </a:solidFill>
              </a:rPr>
              <a:t>Convolutions with Color Channels</a:t>
            </a:r>
            <a:endParaRPr sz="3600">
              <a:solidFill>
                <a:schemeClr val="lt1"/>
              </a:solidFill>
            </a:endParaRPr>
          </a:p>
          <a:p>
            <a:pPr indent="0" lvl="0" marL="0" rtl="0" algn="l">
              <a:spcBef>
                <a:spcPts val="0"/>
              </a:spcBef>
              <a:spcAft>
                <a:spcPts val="0"/>
              </a:spcAft>
              <a:buNone/>
            </a:pPr>
            <a:r>
              <a:t/>
            </a:r>
            <a:endParaRPr/>
          </a:p>
        </p:txBody>
      </p:sp>
      <p:pic>
        <p:nvPicPr>
          <p:cNvPr id="266" name="Google Shape;266;p53"/>
          <p:cNvPicPr preferRelativeResize="0"/>
          <p:nvPr/>
        </p:nvPicPr>
        <p:blipFill>
          <a:blip r:embed="rId3">
            <a:alphaModFix/>
          </a:blip>
          <a:stretch>
            <a:fillRect/>
          </a:stretch>
        </p:blipFill>
        <p:spPr>
          <a:xfrm>
            <a:off x="152400" y="1170125"/>
            <a:ext cx="8525059"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57200" lvl="0" marL="1828800" rtl="0" algn="l">
              <a:spcBef>
                <a:spcPts val="0"/>
              </a:spcBef>
              <a:spcAft>
                <a:spcPts val="0"/>
              </a:spcAft>
              <a:buNone/>
            </a:pPr>
            <a:r>
              <a:rPr lang="en">
                <a:solidFill>
                  <a:schemeClr val="lt1"/>
                </a:solidFill>
              </a:rPr>
              <a:t>Recap:</a:t>
            </a:r>
            <a:r>
              <a:rPr lang="en"/>
              <a:t>(</a:t>
            </a:r>
            <a:r>
              <a:rPr lang="en">
                <a:solidFill>
                  <a:schemeClr val="lt1"/>
                </a:solidFill>
              </a:rPr>
              <a:t>ResNet</a:t>
            </a:r>
            <a:r>
              <a:rPr lang="en"/>
              <a:t>)</a:t>
            </a:r>
            <a:endParaRPr/>
          </a:p>
        </p:txBody>
      </p:sp>
      <p:pic>
        <p:nvPicPr>
          <p:cNvPr id="272" name="Google Shape;272;p54"/>
          <p:cNvPicPr preferRelativeResize="0"/>
          <p:nvPr/>
        </p:nvPicPr>
        <p:blipFill rotWithShape="1">
          <a:blip r:embed="rId3">
            <a:alphaModFix/>
          </a:blip>
          <a:srcRect b="-5100" l="0" r="0" t="5100"/>
          <a:stretch/>
        </p:blipFill>
        <p:spPr>
          <a:xfrm>
            <a:off x="2053775" y="1327726"/>
            <a:ext cx="5175676" cy="2987350"/>
          </a:xfrm>
          <a:prstGeom prst="rect">
            <a:avLst/>
          </a:prstGeom>
          <a:noFill/>
          <a:ln>
            <a:noFill/>
          </a:ln>
        </p:spPr>
      </p:pic>
      <p:sp>
        <p:nvSpPr>
          <p:cNvPr id="273" name="Google Shape;273;p54"/>
          <p:cNvSpPr txBox="1"/>
          <p:nvPr/>
        </p:nvSpPr>
        <p:spPr>
          <a:xfrm>
            <a:off x="211800" y="1443550"/>
            <a:ext cx="21996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Open Sans"/>
                <a:ea typeface="Open Sans"/>
                <a:cs typeface="Open Sans"/>
                <a:sym typeface="Open Sans"/>
              </a:rPr>
              <a:t>Residual layer</a:t>
            </a:r>
            <a:endParaRPr sz="2400">
              <a:latin typeface="Open Sans"/>
              <a:ea typeface="Open Sans"/>
              <a:cs typeface="Open Sans"/>
              <a:sym typeface="Open Sans"/>
            </a:endParaRPr>
          </a:p>
        </p:txBody>
      </p:sp>
      <p:sp>
        <p:nvSpPr>
          <p:cNvPr id="274" name="Google Shape;274;p54"/>
          <p:cNvSpPr txBox="1"/>
          <p:nvPr/>
        </p:nvSpPr>
        <p:spPr>
          <a:xfrm>
            <a:off x="311700" y="3225975"/>
            <a:ext cx="32301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Open Sans"/>
              <a:ea typeface="Open Sans"/>
              <a:cs typeface="Open Sans"/>
              <a:sym typeface="Open Sans"/>
            </a:endParaRPr>
          </a:p>
        </p:txBody>
      </p:sp>
      <p:sp>
        <p:nvSpPr>
          <p:cNvPr id="275" name="Google Shape;275;p54"/>
          <p:cNvSpPr txBox="1"/>
          <p:nvPr/>
        </p:nvSpPr>
        <p:spPr>
          <a:xfrm>
            <a:off x="4021325" y="4379900"/>
            <a:ext cx="51756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The layer is called residual because it has to learn the residual mapping </a:t>
            </a:r>
            <a:r>
              <a:rPr i="1" lang="en" sz="1600">
                <a:solidFill>
                  <a:schemeClr val="dk1"/>
                </a:solidFill>
                <a:highlight>
                  <a:srgbClr val="FFFFFF"/>
                </a:highlight>
                <a:latin typeface="Georgia"/>
                <a:ea typeface="Georgia"/>
                <a:cs typeface="Georgia"/>
                <a:sym typeface="Georgia"/>
              </a:rPr>
              <a:t>F(x)=</a:t>
            </a:r>
            <a:r>
              <a:rPr lang="en" sz="1600">
                <a:solidFill>
                  <a:schemeClr val="dk1"/>
                </a:solidFill>
                <a:highlight>
                  <a:srgbClr val="FFFFFF"/>
                </a:highlight>
                <a:latin typeface="Georgia"/>
                <a:ea typeface="Georgia"/>
                <a:cs typeface="Georgia"/>
                <a:sym typeface="Georgia"/>
              </a:rPr>
              <a:t> </a:t>
            </a:r>
            <a:r>
              <a:rPr i="1" lang="en" sz="1600">
                <a:solidFill>
                  <a:schemeClr val="dk1"/>
                </a:solidFill>
                <a:highlight>
                  <a:srgbClr val="FFFFFF"/>
                </a:highlight>
                <a:latin typeface="Georgia"/>
                <a:ea typeface="Georgia"/>
                <a:cs typeface="Georgia"/>
                <a:sym typeface="Georgia"/>
              </a:rPr>
              <a:t>H(x) - x</a:t>
            </a: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More on CNNs</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6"/>
          <p:cNvSpPr txBox="1"/>
          <p:nvPr>
            <p:ph idx="1" type="body"/>
          </p:nvPr>
        </p:nvSpPr>
        <p:spPr>
          <a:xfrm>
            <a:off x="311700" y="10762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Used with 1D signals - time series, text, etc.</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The </a:t>
            </a:r>
            <a:r>
              <a:rPr lang="en">
                <a:solidFill>
                  <a:schemeClr val="dk2"/>
                </a:solidFill>
              </a:rPr>
              <a:t>kernel</a:t>
            </a:r>
            <a:r>
              <a:rPr lang="en">
                <a:solidFill>
                  <a:schemeClr val="dk2"/>
                </a:solidFill>
              </a:rPr>
              <a:t> moves over one spacial dimension</a:t>
            </a:r>
            <a:endParaRPr>
              <a:solidFill>
                <a:schemeClr val="dk2"/>
              </a:solidFill>
            </a:endParaRPr>
          </a:p>
        </p:txBody>
      </p:sp>
      <p:sp>
        <p:nvSpPr>
          <p:cNvPr id="286" name="Google Shape;286;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1D CNNs - torch.nn.Conv1d</a:t>
            </a:r>
            <a:endParaRPr>
              <a:solidFill>
                <a:schemeClr val="lt1"/>
              </a:solidFill>
            </a:endParaRPr>
          </a:p>
        </p:txBody>
      </p:sp>
      <p:pic>
        <p:nvPicPr>
          <p:cNvPr id="287" name="Google Shape;287;p56"/>
          <p:cNvPicPr preferRelativeResize="0"/>
          <p:nvPr/>
        </p:nvPicPr>
        <p:blipFill>
          <a:blip r:embed="rId3">
            <a:alphaModFix/>
          </a:blip>
          <a:stretch>
            <a:fillRect/>
          </a:stretch>
        </p:blipFill>
        <p:spPr>
          <a:xfrm>
            <a:off x="4559350" y="3370596"/>
            <a:ext cx="4272951" cy="1098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7"/>
          <p:cNvSpPr txBox="1"/>
          <p:nvPr>
            <p:ph idx="1" type="body"/>
          </p:nvPr>
        </p:nvSpPr>
        <p:spPr>
          <a:xfrm>
            <a:off x="311700" y="1049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Video has 3 </a:t>
            </a:r>
            <a:r>
              <a:rPr lang="en">
                <a:solidFill>
                  <a:schemeClr val="dk2"/>
                </a:solidFill>
              </a:rPr>
              <a:t>spatial</a:t>
            </a:r>
            <a:r>
              <a:rPr lang="en">
                <a:solidFill>
                  <a:schemeClr val="dk2"/>
                </a:solidFill>
              </a:rPr>
              <a:t> dimensions - time, height, width</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Used with 3D input - e.g. medical images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A pixel in 3D space is called a </a:t>
            </a:r>
            <a:r>
              <a:rPr b="1" lang="en">
                <a:solidFill>
                  <a:schemeClr val="dk2"/>
                </a:solidFill>
              </a:rPr>
              <a:t>voxel</a:t>
            </a:r>
            <a:r>
              <a:rPr lang="en">
                <a:solidFill>
                  <a:schemeClr val="dk2"/>
                </a:solidFill>
              </a:rPr>
              <a:t> </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The kernel moves over 3 </a:t>
            </a:r>
            <a:r>
              <a:rPr lang="en">
                <a:solidFill>
                  <a:schemeClr val="dk2"/>
                </a:solidFill>
              </a:rPr>
              <a:t>spatial</a:t>
            </a:r>
            <a:r>
              <a:rPr lang="en">
                <a:solidFill>
                  <a:schemeClr val="dk2"/>
                </a:solidFill>
              </a:rPr>
              <a:t> dimensions</a:t>
            </a:r>
            <a:endParaRPr>
              <a:solidFill>
                <a:schemeClr val="dk2"/>
              </a:solidFill>
            </a:endParaRPr>
          </a:p>
        </p:txBody>
      </p:sp>
      <p:sp>
        <p:nvSpPr>
          <p:cNvPr id="293" name="Google Shape;29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3</a:t>
            </a:r>
            <a:r>
              <a:rPr lang="en">
                <a:solidFill>
                  <a:schemeClr val="lt1"/>
                </a:solidFill>
              </a:rPr>
              <a:t>D CNNs - torch.nn.Conv3d</a:t>
            </a:r>
            <a:endParaRPr>
              <a:solidFill>
                <a:schemeClr val="lt1"/>
              </a:solidFill>
            </a:endParaRPr>
          </a:p>
        </p:txBody>
      </p:sp>
      <p:pic>
        <p:nvPicPr>
          <p:cNvPr id="294" name="Google Shape;294;p57"/>
          <p:cNvPicPr preferRelativeResize="0"/>
          <p:nvPr/>
        </p:nvPicPr>
        <p:blipFill>
          <a:blip r:embed="rId3">
            <a:alphaModFix/>
          </a:blip>
          <a:stretch>
            <a:fillRect/>
          </a:stretch>
        </p:blipFill>
        <p:spPr>
          <a:xfrm>
            <a:off x="4069000" y="3063269"/>
            <a:ext cx="4572001" cy="1319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8"/>
          <p:cNvSpPr txBox="1"/>
          <p:nvPr>
            <p:ph idx="1" type="body"/>
          </p:nvPr>
        </p:nvSpPr>
        <p:spPr>
          <a:xfrm>
            <a:off x="311700" y="1049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Parameter in Conv2d. Defaults to 1. (groups=1)</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The deeper the networks becomes, the more features it usually has.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Groups controls the connection between the inputs and </a:t>
            </a:r>
            <a:r>
              <a:rPr lang="en">
                <a:solidFill>
                  <a:schemeClr val="dk2"/>
                </a:solidFill>
              </a:rPr>
              <a:t>outputs</a:t>
            </a:r>
            <a:r>
              <a:rPr lang="en">
                <a:solidFill>
                  <a:schemeClr val="dk2"/>
                </a:solidFill>
              </a:rPr>
              <a:t>. </a:t>
            </a:r>
            <a:r>
              <a:rPr b="1" lang="en">
                <a:solidFill>
                  <a:schemeClr val="dk2"/>
                </a:solidFill>
              </a:rPr>
              <a:t>i</a:t>
            </a:r>
            <a:r>
              <a:rPr b="1" lang="en">
                <a:solidFill>
                  <a:schemeClr val="dk2"/>
                </a:solidFill>
              </a:rPr>
              <a:t>n_channels</a:t>
            </a:r>
            <a:r>
              <a:rPr lang="en">
                <a:solidFill>
                  <a:schemeClr val="dk2"/>
                </a:solidFill>
              </a:rPr>
              <a:t> and </a:t>
            </a:r>
            <a:r>
              <a:rPr b="1" lang="en">
                <a:solidFill>
                  <a:schemeClr val="dk2"/>
                </a:solidFill>
              </a:rPr>
              <a:t>out_channels</a:t>
            </a:r>
            <a:r>
              <a:rPr lang="en">
                <a:solidFill>
                  <a:schemeClr val="dk2"/>
                </a:solidFill>
              </a:rPr>
              <a:t> must be </a:t>
            </a:r>
            <a:r>
              <a:rPr lang="en">
                <a:solidFill>
                  <a:schemeClr val="dk2"/>
                </a:solidFill>
              </a:rPr>
              <a:t>divisible</a:t>
            </a:r>
            <a:r>
              <a:rPr lang="en">
                <a:solidFill>
                  <a:schemeClr val="dk2"/>
                </a:solidFill>
              </a:rPr>
              <a:t> by </a:t>
            </a:r>
            <a:r>
              <a:rPr b="1" lang="en">
                <a:solidFill>
                  <a:schemeClr val="dk2"/>
                </a:solidFill>
              </a:rPr>
              <a:t>groups</a:t>
            </a:r>
            <a:endParaRPr b="1">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When groups==in_channels, the operation is known as “</a:t>
            </a:r>
            <a:r>
              <a:rPr b="1" lang="en">
                <a:solidFill>
                  <a:schemeClr val="dk2"/>
                </a:solidFill>
              </a:rPr>
              <a:t>depthwise convolution</a:t>
            </a:r>
            <a:r>
              <a:rPr lang="en">
                <a:solidFill>
                  <a:schemeClr val="dk2"/>
                </a:solidFill>
              </a:rPr>
              <a:t>”</a:t>
            </a:r>
            <a:endParaRPr>
              <a:solidFill>
                <a:schemeClr val="dk2"/>
              </a:solidFill>
            </a:endParaRPr>
          </a:p>
          <a:p>
            <a:pPr indent="0" lvl="0" marL="0" rtl="0" algn="l">
              <a:spcBef>
                <a:spcPts val="1200"/>
              </a:spcBef>
              <a:spcAft>
                <a:spcPts val="1200"/>
              </a:spcAft>
              <a:buNone/>
            </a:pPr>
            <a:r>
              <a:t/>
            </a:r>
            <a:endParaRPr>
              <a:solidFill>
                <a:schemeClr val="dk2"/>
              </a:solidFill>
            </a:endParaRPr>
          </a:p>
        </p:txBody>
      </p:sp>
      <p:sp>
        <p:nvSpPr>
          <p:cNvPr id="300" name="Google Shape;30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Grouped Convolutions</a:t>
            </a:r>
            <a:endParaRPr>
              <a:solidFill>
                <a:schemeClr val="lt1"/>
              </a:solidFill>
            </a:endParaRPr>
          </a:p>
        </p:txBody>
      </p:sp>
      <p:sp>
        <p:nvSpPr>
          <p:cNvPr id="301" name="Google Shape;301;p58"/>
          <p:cNvSpPr txBox="1"/>
          <p:nvPr/>
        </p:nvSpPr>
        <p:spPr>
          <a:xfrm>
            <a:off x="993625" y="4698425"/>
            <a:ext cx="4636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https://www.youtube.com/watch?v=vVaRhZXovbw</a:t>
            </a:r>
            <a:r>
              <a:rPr lang="en" sz="1000">
                <a:solidFill>
                  <a:schemeClr val="lt2"/>
                </a:solidFill>
              </a:rPr>
              <a:t> </a:t>
            </a:r>
            <a:endParaRPr sz="1000">
              <a:solidFill>
                <a:schemeClr val="l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59"/>
          <p:cNvSpPr txBox="1"/>
          <p:nvPr>
            <p:ph idx="1" type="body"/>
          </p:nvPr>
        </p:nvSpPr>
        <p:spPr>
          <a:xfrm>
            <a:off x="311700" y="1049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Parameter in Conv2d. Defaults to 1. (dilation=1)</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Controls the spacing between the kernel points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Allows covering larger context without increasing the kernel size</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Have been successfully applied in audio generation (</a:t>
            </a:r>
            <a:r>
              <a:rPr lang="en" u="sng">
                <a:solidFill>
                  <a:schemeClr val="hlink"/>
                </a:solidFill>
                <a:hlinkClick r:id="rId3"/>
              </a:rPr>
              <a:t>WaveNet</a:t>
            </a:r>
            <a:r>
              <a:rPr lang="en">
                <a:solidFill>
                  <a:schemeClr val="dk2"/>
                </a:solidFill>
              </a:rPr>
              <a:t> )</a:t>
            </a:r>
            <a:endParaRPr>
              <a:solidFill>
                <a:schemeClr val="dk2"/>
              </a:solidFill>
            </a:endParaRPr>
          </a:p>
        </p:txBody>
      </p:sp>
      <p:sp>
        <p:nvSpPr>
          <p:cNvPr id="307" name="Google Shape;30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Dilated</a:t>
            </a:r>
            <a:r>
              <a:rPr lang="en">
                <a:solidFill>
                  <a:schemeClr val="lt1"/>
                </a:solidFill>
              </a:rPr>
              <a:t> Convolutions</a:t>
            </a:r>
            <a:endParaRPr>
              <a:solidFill>
                <a:schemeClr val="lt1"/>
              </a:solidFill>
            </a:endParaRPr>
          </a:p>
        </p:txBody>
      </p:sp>
      <p:pic>
        <p:nvPicPr>
          <p:cNvPr id="308" name="Google Shape;308;p59"/>
          <p:cNvPicPr preferRelativeResize="0"/>
          <p:nvPr/>
        </p:nvPicPr>
        <p:blipFill>
          <a:blip r:embed="rId4">
            <a:alphaModFix/>
          </a:blip>
          <a:stretch>
            <a:fillRect/>
          </a:stretch>
        </p:blipFill>
        <p:spPr>
          <a:xfrm>
            <a:off x="6252546" y="2443646"/>
            <a:ext cx="2497400" cy="2408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6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More on Normalizations</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1"/>
          <p:cNvSpPr txBox="1"/>
          <p:nvPr>
            <p:ph idx="1" type="body"/>
          </p:nvPr>
        </p:nvSpPr>
        <p:spPr>
          <a:xfrm>
            <a:off x="311700" y="10490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Permorms BN-like normalization but only for each sample</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In BN                          where S</a:t>
            </a:r>
            <a:r>
              <a:rPr baseline="-25000" lang="en">
                <a:solidFill>
                  <a:schemeClr val="dk2"/>
                </a:solidFill>
              </a:rPr>
              <a:t>i </a:t>
            </a:r>
            <a:r>
              <a:rPr lang="en">
                <a:solidFill>
                  <a:schemeClr val="dk2"/>
                </a:solidFill>
              </a:rPr>
              <a:t>is the set of pixels that the mean and std are </a:t>
            </a:r>
            <a:r>
              <a:rPr lang="en">
                <a:solidFill>
                  <a:schemeClr val="dk2"/>
                </a:solidFill>
              </a:rPr>
              <a:t>calculated</a:t>
            </a:r>
            <a:r>
              <a:rPr lang="en">
                <a:solidFill>
                  <a:schemeClr val="dk2"/>
                </a:solidFill>
              </a:rPr>
              <a:t> over.</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i</a:t>
            </a:r>
            <a:r>
              <a:rPr baseline="-25000" lang="en">
                <a:solidFill>
                  <a:schemeClr val="dk2"/>
                </a:solidFill>
              </a:rPr>
              <a:t>C </a:t>
            </a:r>
            <a:r>
              <a:rPr lang="en">
                <a:solidFill>
                  <a:schemeClr val="dk2"/>
                </a:solidFill>
              </a:rPr>
              <a:t>denotes the sub-index of i along the C axis.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Pixels sharing the same channel index are normalized together</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IN: </a:t>
            </a:r>
            <a:endParaRPr>
              <a:solidFill>
                <a:schemeClr val="dk2"/>
              </a:solidFill>
            </a:endParaRPr>
          </a:p>
        </p:txBody>
      </p:sp>
      <p:sp>
        <p:nvSpPr>
          <p:cNvPr id="319" name="Google Shape;319;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Instance Normalization</a:t>
            </a:r>
            <a:endParaRPr>
              <a:solidFill>
                <a:schemeClr val="lt1"/>
              </a:solidFill>
            </a:endParaRPr>
          </a:p>
        </p:txBody>
      </p:sp>
      <p:pic>
        <p:nvPicPr>
          <p:cNvPr id="320" name="Google Shape;320;p61"/>
          <p:cNvPicPr preferRelativeResize="0"/>
          <p:nvPr/>
        </p:nvPicPr>
        <p:blipFill>
          <a:blip r:embed="rId3">
            <a:alphaModFix/>
          </a:blip>
          <a:stretch>
            <a:fillRect/>
          </a:stretch>
        </p:blipFill>
        <p:spPr>
          <a:xfrm>
            <a:off x="7022550" y="2929000"/>
            <a:ext cx="1809750" cy="2114550"/>
          </a:xfrm>
          <a:prstGeom prst="rect">
            <a:avLst/>
          </a:prstGeom>
          <a:noFill/>
          <a:ln>
            <a:noFill/>
          </a:ln>
        </p:spPr>
      </p:pic>
      <p:pic>
        <p:nvPicPr>
          <p:cNvPr id="321" name="Google Shape;321;p61"/>
          <p:cNvPicPr preferRelativeResize="0"/>
          <p:nvPr/>
        </p:nvPicPr>
        <p:blipFill>
          <a:blip r:embed="rId4">
            <a:alphaModFix/>
          </a:blip>
          <a:stretch>
            <a:fillRect/>
          </a:stretch>
        </p:blipFill>
        <p:spPr>
          <a:xfrm>
            <a:off x="1505075" y="1416075"/>
            <a:ext cx="1526531" cy="373300"/>
          </a:xfrm>
          <a:prstGeom prst="rect">
            <a:avLst/>
          </a:prstGeom>
          <a:noFill/>
          <a:ln>
            <a:noFill/>
          </a:ln>
        </p:spPr>
      </p:pic>
      <p:pic>
        <p:nvPicPr>
          <p:cNvPr id="322" name="Google Shape;322;p61"/>
          <p:cNvPicPr preferRelativeResize="0"/>
          <p:nvPr/>
        </p:nvPicPr>
        <p:blipFill>
          <a:blip r:embed="rId5">
            <a:alphaModFix/>
          </a:blip>
          <a:stretch>
            <a:fillRect/>
          </a:stretch>
        </p:blipFill>
        <p:spPr>
          <a:xfrm>
            <a:off x="1254200" y="2719650"/>
            <a:ext cx="1839351" cy="373300"/>
          </a:xfrm>
          <a:prstGeom prst="rect">
            <a:avLst/>
          </a:prstGeom>
          <a:noFill/>
          <a:ln>
            <a:noFill/>
          </a:ln>
        </p:spPr>
      </p:pic>
      <p:pic>
        <p:nvPicPr>
          <p:cNvPr id="323" name="Google Shape;323;p61"/>
          <p:cNvPicPr preferRelativeResize="0"/>
          <p:nvPr/>
        </p:nvPicPr>
        <p:blipFill>
          <a:blip r:embed="rId6">
            <a:alphaModFix/>
          </a:blip>
          <a:stretch>
            <a:fillRect/>
          </a:stretch>
        </p:blipFill>
        <p:spPr>
          <a:xfrm>
            <a:off x="491750" y="3165379"/>
            <a:ext cx="1809750" cy="19659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62"/>
          <p:cNvSpPr txBox="1"/>
          <p:nvPr>
            <p:ph idx="1" type="body"/>
          </p:nvPr>
        </p:nvSpPr>
        <p:spPr>
          <a:xfrm>
            <a:off x="251700" y="10177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Char char="●"/>
            </a:pPr>
            <a:r>
              <a:rPr lang="en">
                <a:solidFill>
                  <a:schemeClr val="dk2"/>
                </a:solidFill>
              </a:rPr>
              <a:t>Computes mean and std along the (C,H,W) axes for each sample.</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 </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BN is tricky to apply to sequences, where each input sequence can be different length</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BN is not trivial to parallelize</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Used in Transformers</a:t>
            </a:r>
            <a:endParaRPr>
              <a:solidFill>
                <a:schemeClr val="dk2"/>
              </a:solidFill>
            </a:endParaRPr>
          </a:p>
        </p:txBody>
      </p:sp>
      <p:sp>
        <p:nvSpPr>
          <p:cNvPr id="329" name="Google Shape;329;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Layer</a:t>
            </a:r>
            <a:r>
              <a:rPr lang="en">
                <a:solidFill>
                  <a:schemeClr val="lt1"/>
                </a:solidFill>
              </a:rPr>
              <a:t> Normalization</a:t>
            </a:r>
            <a:endParaRPr>
              <a:solidFill>
                <a:schemeClr val="lt1"/>
              </a:solidFill>
            </a:endParaRPr>
          </a:p>
        </p:txBody>
      </p:sp>
      <p:pic>
        <p:nvPicPr>
          <p:cNvPr id="330" name="Google Shape;330;p62"/>
          <p:cNvPicPr preferRelativeResize="0"/>
          <p:nvPr/>
        </p:nvPicPr>
        <p:blipFill>
          <a:blip r:embed="rId3">
            <a:alphaModFix/>
          </a:blip>
          <a:stretch>
            <a:fillRect/>
          </a:stretch>
        </p:blipFill>
        <p:spPr>
          <a:xfrm>
            <a:off x="7054913" y="2676175"/>
            <a:ext cx="1743075" cy="2038350"/>
          </a:xfrm>
          <a:prstGeom prst="rect">
            <a:avLst/>
          </a:prstGeom>
          <a:noFill/>
          <a:ln>
            <a:noFill/>
          </a:ln>
        </p:spPr>
      </p:pic>
      <p:pic>
        <p:nvPicPr>
          <p:cNvPr id="331" name="Google Shape;331;p62"/>
          <p:cNvPicPr preferRelativeResize="0"/>
          <p:nvPr/>
        </p:nvPicPr>
        <p:blipFill>
          <a:blip r:embed="rId4">
            <a:alphaModFix/>
          </a:blip>
          <a:stretch>
            <a:fillRect/>
          </a:stretch>
        </p:blipFill>
        <p:spPr>
          <a:xfrm>
            <a:off x="817850" y="1379350"/>
            <a:ext cx="1480745" cy="404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63"/>
          <p:cNvSpPr txBox="1"/>
          <p:nvPr>
            <p:ph idx="1" type="body"/>
          </p:nvPr>
        </p:nvSpPr>
        <p:spPr>
          <a:xfrm>
            <a:off x="311700" y="10490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2"/>
              </a:solidFill>
            </a:endParaRPr>
          </a:p>
          <a:p>
            <a:pPr indent="-342900" lvl="0" marL="457200" rtl="0" algn="l">
              <a:spcBef>
                <a:spcPts val="1200"/>
              </a:spcBef>
              <a:spcAft>
                <a:spcPts val="0"/>
              </a:spcAft>
              <a:buClr>
                <a:schemeClr val="dk2"/>
              </a:buClr>
              <a:buSzPts val="1800"/>
              <a:buChar char="●"/>
            </a:pPr>
            <a:r>
              <a:rPr lang="en">
                <a:solidFill>
                  <a:schemeClr val="dk2"/>
                </a:solidFill>
              </a:rPr>
              <a:t>G is the number of groups</a:t>
            </a:r>
            <a:endParaRPr>
              <a:solidFill>
                <a:schemeClr val="dk2"/>
              </a:solidFill>
            </a:endParaRPr>
          </a:p>
          <a:p>
            <a:pPr indent="-342900" lvl="0" marL="457200" rtl="0" algn="l">
              <a:spcBef>
                <a:spcPts val="0"/>
              </a:spcBef>
              <a:spcAft>
                <a:spcPts val="0"/>
              </a:spcAft>
              <a:buClr>
                <a:schemeClr val="dk2"/>
              </a:buClr>
              <a:buSzPts val="1800"/>
              <a:buChar char="●"/>
            </a:pPr>
            <a:r>
              <a:rPr lang="en">
                <a:solidFill>
                  <a:schemeClr val="dk2"/>
                </a:solidFill>
              </a:rPr>
              <a:t>GN becomes LN when G=1, GN becomes IN when G=C</a:t>
            </a:r>
            <a:endParaRPr>
              <a:solidFill>
                <a:schemeClr val="dk2"/>
              </a:solidFill>
            </a:endParaRPr>
          </a:p>
        </p:txBody>
      </p:sp>
      <p:sp>
        <p:nvSpPr>
          <p:cNvPr id="337" name="Google Shape;337;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Group</a:t>
            </a:r>
            <a:r>
              <a:rPr lang="en">
                <a:solidFill>
                  <a:schemeClr val="lt1"/>
                </a:solidFill>
              </a:rPr>
              <a:t> Normalization</a:t>
            </a:r>
            <a:endParaRPr>
              <a:solidFill>
                <a:schemeClr val="lt1"/>
              </a:solidFill>
            </a:endParaRPr>
          </a:p>
        </p:txBody>
      </p:sp>
      <p:pic>
        <p:nvPicPr>
          <p:cNvPr id="338" name="Google Shape;338;p63"/>
          <p:cNvPicPr preferRelativeResize="0"/>
          <p:nvPr/>
        </p:nvPicPr>
        <p:blipFill>
          <a:blip r:embed="rId3">
            <a:alphaModFix/>
          </a:blip>
          <a:stretch>
            <a:fillRect/>
          </a:stretch>
        </p:blipFill>
        <p:spPr>
          <a:xfrm>
            <a:off x="7022550" y="2812600"/>
            <a:ext cx="1809750" cy="2114550"/>
          </a:xfrm>
          <a:prstGeom prst="rect">
            <a:avLst/>
          </a:prstGeom>
          <a:noFill/>
          <a:ln>
            <a:noFill/>
          </a:ln>
        </p:spPr>
      </p:pic>
      <p:pic>
        <p:nvPicPr>
          <p:cNvPr id="339" name="Google Shape;339;p63"/>
          <p:cNvPicPr preferRelativeResize="0"/>
          <p:nvPr/>
        </p:nvPicPr>
        <p:blipFill>
          <a:blip r:embed="rId4">
            <a:alphaModFix/>
          </a:blip>
          <a:stretch>
            <a:fillRect/>
          </a:stretch>
        </p:blipFill>
        <p:spPr>
          <a:xfrm>
            <a:off x="284425" y="2878600"/>
            <a:ext cx="3026550" cy="2048550"/>
          </a:xfrm>
          <a:prstGeom prst="rect">
            <a:avLst/>
          </a:prstGeom>
          <a:noFill/>
          <a:ln>
            <a:noFill/>
          </a:ln>
        </p:spPr>
      </p:pic>
      <p:pic>
        <p:nvPicPr>
          <p:cNvPr id="340" name="Google Shape;340;p63"/>
          <p:cNvPicPr preferRelativeResize="0"/>
          <p:nvPr/>
        </p:nvPicPr>
        <p:blipFill>
          <a:blip r:embed="rId5">
            <a:alphaModFix/>
          </a:blip>
          <a:stretch>
            <a:fillRect/>
          </a:stretch>
        </p:blipFill>
        <p:spPr>
          <a:xfrm>
            <a:off x="608238" y="932788"/>
            <a:ext cx="3400425" cy="714375"/>
          </a:xfrm>
          <a:prstGeom prst="rect">
            <a:avLst/>
          </a:prstGeom>
          <a:noFill/>
          <a:ln>
            <a:noFill/>
          </a:ln>
        </p:spPr>
      </p:pic>
      <p:sp>
        <p:nvSpPr>
          <p:cNvPr id="341" name="Google Shape;341;p63"/>
          <p:cNvSpPr txBox="1"/>
          <p:nvPr/>
        </p:nvSpPr>
        <p:spPr>
          <a:xfrm>
            <a:off x="3890075" y="4878425"/>
            <a:ext cx="3141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rPr>
              <a:t>Wu et al </a:t>
            </a:r>
            <a:r>
              <a:rPr lang="en" sz="900" u="sng">
                <a:solidFill>
                  <a:schemeClr val="lt1"/>
                </a:solidFill>
                <a:hlinkClick r:id="rId6">
                  <a:extLst>
                    <a:ext uri="{A12FA001-AC4F-418D-AE19-62706E023703}">
                      <ahyp:hlinkClr val="tx"/>
                    </a:ext>
                  </a:extLst>
                </a:hlinkClick>
              </a:rPr>
              <a:t>https://arxiv.org/pdf/1803.08494.pdf</a:t>
            </a:r>
            <a:r>
              <a:rPr lang="en" sz="900">
                <a:solidFill>
                  <a:schemeClr val="lt1"/>
                </a:solidFill>
              </a:rPr>
              <a:t> </a:t>
            </a:r>
            <a:endParaRPr sz="9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Inception</a:t>
            </a:r>
            <a:endParaRPr>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(Inception)</a:t>
            </a:r>
            <a:endParaRPr>
              <a:solidFill>
                <a:schemeClr val="lt1"/>
              </a:solidFill>
            </a:endParaRPr>
          </a:p>
        </p:txBody>
      </p:sp>
      <p:sp>
        <p:nvSpPr>
          <p:cNvPr id="352" name="Google Shape;352;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Winner of the ILSVRC 2014 image classification competition</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Novel layer called Inception </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22 layers deep</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Achieves </a:t>
            </a:r>
            <a:r>
              <a:rPr b="1" lang="en">
                <a:solidFill>
                  <a:schemeClr val="lt1"/>
                </a:solidFill>
              </a:rPr>
              <a:t>6.66 % </a:t>
            </a:r>
            <a:r>
              <a:rPr lang="en">
                <a:solidFill>
                  <a:schemeClr val="lt1"/>
                </a:solidFill>
              </a:rPr>
              <a:t>Top-5 error rate</a:t>
            </a:r>
            <a:endParaRPr>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(Inception) Motivation </a:t>
            </a:r>
            <a:endParaRPr>
              <a:solidFill>
                <a:schemeClr val="lt1"/>
              </a:solidFill>
            </a:endParaRPr>
          </a:p>
        </p:txBody>
      </p:sp>
      <p:sp>
        <p:nvSpPr>
          <p:cNvPr id="358" name="Google Shape;358;p66"/>
          <p:cNvSpPr txBox="1"/>
          <p:nvPr>
            <p:ph idx="1" type="body"/>
          </p:nvPr>
        </p:nvSpPr>
        <p:spPr>
          <a:xfrm>
            <a:off x="311700" y="4188350"/>
            <a:ext cx="8520600" cy="831600"/>
          </a:xfrm>
          <a:prstGeom prst="rect">
            <a:avLst/>
          </a:prstGeom>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Char char="●"/>
            </a:pPr>
            <a:r>
              <a:rPr lang="en" sz="1600">
                <a:solidFill>
                  <a:schemeClr val="lt1"/>
                </a:solidFill>
              </a:rPr>
              <a:t>The variation in the location of information, makes choosing the right kernel size tough. </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A larger kernel is preferred for information that is distributed more globally</a:t>
            </a:r>
            <a:endParaRPr sz="1600">
              <a:solidFill>
                <a:schemeClr val="lt1"/>
              </a:solidFill>
            </a:endParaRPr>
          </a:p>
          <a:p>
            <a:pPr indent="-330200" lvl="0" marL="457200" rtl="0" algn="l">
              <a:lnSpc>
                <a:spcPct val="100000"/>
              </a:lnSpc>
              <a:spcBef>
                <a:spcPts val="0"/>
              </a:spcBef>
              <a:spcAft>
                <a:spcPts val="0"/>
              </a:spcAft>
              <a:buClr>
                <a:schemeClr val="lt1"/>
              </a:buClr>
              <a:buSzPts val="1600"/>
              <a:buChar char="●"/>
            </a:pPr>
            <a:r>
              <a:rPr lang="en" sz="1600">
                <a:solidFill>
                  <a:schemeClr val="lt1"/>
                </a:solidFill>
              </a:rPr>
              <a:t>A smaller kernel is preferred for information that is distributed more locally.</a:t>
            </a:r>
            <a:endParaRPr b="1" sz="1600">
              <a:solidFill>
                <a:srgbClr val="292929"/>
              </a:solidFill>
              <a:highlight>
                <a:srgbClr val="FFFFFF"/>
              </a:highlight>
              <a:latin typeface="Georgia"/>
              <a:ea typeface="Georgia"/>
              <a:cs typeface="Georgia"/>
              <a:sym typeface="Georgia"/>
            </a:endParaRPr>
          </a:p>
          <a:p>
            <a:pPr indent="-330200" lvl="1" marL="914400" rtl="0" algn="l">
              <a:lnSpc>
                <a:spcPct val="100000"/>
              </a:lnSpc>
              <a:spcBef>
                <a:spcPts val="0"/>
              </a:spcBef>
              <a:spcAft>
                <a:spcPts val="0"/>
              </a:spcAft>
              <a:buClr>
                <a:schemeClr val="lt1"/>
              </a:buClr>
              <a:buSzPts val="1600"/>
              <a:buChar char="○"/>
            </a:pPr>
            <a:r>
              <a:t/>
            </a:r>
            <a:endParaRPr sz="1600">
              <a:solidFill>
                <a:schemeClr val="lt1"/>
              </a:solidFill>
            </a:endParaRPr>
          </a:p>
        </p:txBody>
      </p:sp>
      <p:pic>
        <p:nvPicPr>
          <p:cNvPr id="359" name="Google Shape;359;p66"/>
          <p:cNvPicPr preferRelativeResize="0"/>
          <p:nvPr/>
        </p:nvPicPr>
        <p:blipFill>
          <a:blip r:embed="rId3">
            <a:alphaModFix/>
          </a:blip>
          <a:stretch>
            <a:fillRect/>
          </a:stretch>
        </p:blipFill>
        <p:spPr>
          <a:xfrm>
            <a:off x="610000" y="900113"/>
            <a:ext cx="8096250" cy="33432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(Inception) Solution</a:t>
            </a:r>
            <a:endParaRPr>
              <a:solidFill>
                <a:schemeClr val="lt1"/>
              </a:solidFill>
            </a:endParaRPr>
          </a:p>
        </p:txBody>
      </p:sp>
      <p:sp>
        <p:nvSpPr>
          <p:cNvPr id="365" name="Google Shape;365;p6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292929"/>
              </a:buClr>
              <a:buSzPts val="1500"/>
              <a:buFont typeface="Georgia"/>
              <a:buChar char="●"/>
            </a:pPr>
            <a:r>
              <a:rPr lang="en">
                <a:solidFill>
                  <a:schemeClr val="lt1"/>
                </a:solidFill>
              </a:rPr>
              <a:t>For effective recognition of variable-sized feature, we need different kernels operating on the same level.</a:t>
            </a:r>
            <a:endParaRPr>
              <a:solidFill>
                <a:schemeClr val="lt1"/>
              </a:solidFill>
            </a:endParaRPr>
          </a:p>
          <a:p>
            <a:pPr indent="-323850" lvl="0" marL="457200" rtl="0" algn="l">
              <a:spcBef>
                <a:spcPts val="0"/>
              </a:spcBef>
              <a:spcAft>
                <a:spcPts val="0"/>
              </a:spcAft>
              <a:buClr>
                <a:srgbClr val="292929"/>
              </a:buClr>
              <a:buSzPts val="1500"/>
              <a:buFont typeface="Georgia"/>
              <a:buChar char="●"/>
            </a:pPr>
            <a:r>
              <a:rPr lang="en">
                <a:solidFill>
                  <a:schemeClr val="lt1"/>
                </a:solidFill>
              </a:rPr>
              <a:t>Multiple kernels of different sizes are implemented within the same layer.</a:t>
            </a:r>
            <a:endParaRPr>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(Inception) </a:t>
            </a:r>
            <a:endParaRPr>
              <a:solidFill>
                <a:schemeClr val="lt1"/>
              </a:solidFill>
            </a:endParaRPr>
          </a:p>
        </p:txBody>
      </p:sp>
      <p:pic>
        <p:nvPicPr>
          <p:cNvPr id="371" name="Google Shape;371;p68"/>
          <p:cNvPicPr preferRelativeResize="0"/>
          <p:nvPr/>
        </p:nvPicPr>
        <p:blipFill>
          <a:blip r:embed="rId3">
            <a:alphaModFix/>
          </a:blip>
          <a:stretch>
            <a:fillRect/>
          </a:stretch>
        </p:blipFill>
        <p:spPr>
          <a:xfrm>
            <a:off x="597850" y="887025"/>
            <a:ext cx="7620000" cy="4857750"/>
          </a:xfrm>
          <a:prstGeom prst="rect">
            <a:avLst/>
          </a:prstGeom>
          <a:noFill/>
          <a:ln>
            <a:noFill/>
          </a:ln>
        </p:spPr>
      </p:pic>
      <p:sp>
        <p:nvSpPr>
          <p:cNvPr id="372" name="Google Shape;372;p68"/>
          <p:cNvSpPr txBox="1"/>
          <p:nvPr/>
        </p:nvSpPr>
        <p:spPr>
          <a:xfrm>
            <a:off x="0" y="0"/>
            <a:ext cx="3000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highlight>
                  <a:srgbClr val="FFFFFF"/>
                </a:highlight>
                <a:latin typeface="Roboto"/>
                <a:ea typeface="Roboto"/>
                <a:cs typeface="Roboto"/>
                <a:sym typeface="Roboto"/>
              </a:rPr>
              <a:t>Fun fact, this meme was referenced in the first inception net paper.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4400">
                <a:solidFill>
                  <a:srgbClr val="000000"/>
                </a:solidFill>
              </a:rPr>
              <a:t>What does a 1 × 1 convolution do?</a:t>
            </a:r>
            <a:endParaRPr/>
          </a:p>
        </p:txBody>
      </p:sp>
      <p:pic>
        <p:nvPicPr>
          <p:cNvPr id="378" name="Google Shape;378;p69"/>
          <p:cNvPicPr preferRelativeResize="0"/>
          <p:nvPr/>
        </p:nvPicPr>
        <p:blipFill>
          <a:blip r:embed="rId3">
            <a:alphaModFix/>
          </a:blip>
          <a:stretch>
            <a:fillRect/>
          </a:stretch>
        </p:blipFill>
        <p:spPr>
          <a:xfrm>
            <a:off x="1881500" y="1202950"/>
            <a:ext cx="5993686" cy="3820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Using 1×1 convolutions to control the number of channels</a:t>
            </a:r>
            <a:endParaRPr/>
          </a:p>
        </p:txBody>
      </p:sp>
      <p:pic>
        <p:nvPicPr>
          <p:cNvPr id="384" name="Google Shape;384;p70"/>
          <p:cNvPicPr preferRelativeResize="0"/>
          <p:nvPr/>
        </p:nvPicPr>
        <p:blipFill>
          <a:blip r:embed="rId3">
            <a:alphaModFix/>
          </a:blip>
          <a:stretch>
            <a:fillRect/>
          </a:stretch>
        </p:blipFill>
        <p:spPr>
          <a:xfrm>
            <a:off x="2177063" y="1104450"/>
            <a:ext cx="5993686" cy="3820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Inception Layer</a:t>
            </a:r>
            <a:endParaRPr/>
          </a:p>
        </p:txBody>
      </p:sp>
      <p:pic>
        <p:nvPicPr>
          <p:cNvPr id="390" name="Google Shape;390;p71"/>
          <p:cNvPicPr preferRelativeResize="0"/>
          <p:nvPr/>
        </p:nvPicPr>
        <p:blipFill>
          <a:blip r:embed="rId3">
            <a:alphaModFix/>
          </a:blip>
          <a:stretch>
            <a:fillRect/>
          </a:stretch>
        </p:blipFill>
        <p:spPr>
          <a:xfrm>
            <a:off x="1837700" y="1017725"/>
            <a:ext cx="5993686" cy="38209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dk2"/>
                </a:solidFill>
              </a:rPr>
              <a:t>Inception Layer</a:t>
            </a:r>
            <a:endParaRPr>
              <a:solidFill>
                <a:schemeClr val="dk2"/>
              </a:solidFill>
            </a:endParaRPr>
          </a:p>
        </p:txBody>
      </p:sp>
      <p:sp>
        <p:nvSpPr>
          <p:cNvPr id="396" name="Google Shape;396;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18181"/>
              </a:lnSpc>
              <a:spcBef>
                <a:spcPts val="3000"/>
              </a:spcBef>
              <a:spcAft>
                <a:spcPts val="0"/>
              </a:spcAft>
              <a:buNone/>
            </a:pPr>
            <a:r>
              <a:rPr lang="en">
                <a:solidFill>
                  <a:schemeClr val="lt1"/>
                </a:solidFill>
              </a:rPr>
              <a:t>Each inception module consists of four operations in parallel</a:t>
            </a:r>
            <a:endParaRPr sz="1500">
              <a:solidFill>
                <a:srgbClr val="292929"/>
              </a:solidFill>
              <a:highlight>
                <a:srgbClr val="FFFFFF"/>
              </a:highlight>
              <a:latin typeface="Georgia"/>
              <a:ea typeface="Georgia"/>
              <a:cs typeface="Georgia"/>
              <a:sym typeface="Georgia"/>
            </a:endParaRPr>
          </a:p>
          <a:p>
            <a:pPr indent="-323850" lvl="0" marL="457200" marR="0" rtl="0" algn="l">
              <a:lnSpc>
                <a:spcPct val="115000"/>
              </a:lnSpc>
              <a:spcBef>
                <a:spcPts val="0"/>
              </a:spcBef>
              <a:spcAft>
                <a:spcPts val="0"/>
              </a:spcAft>
              <a:buClr>
                <a:srgbClr val="292929"/>
              </a:buClr>
              <a:buSzPts val="1500"/>
              <a:buFont typeface="Georgia"/>
              <a:buChar char="●"/>
            </a:pPr>
            <a:r>
              <a:rPr lang="en">
                <a:solidFill>
                  <a:schemeClr val="lt1"/>
                </a:solidFill>
              </a:rPr>
              <a:t>1x1 conv layer</a:t>
            </a:r>
            <a:endParaRPr>
              <a:solidFill>
                <a:schemeClr val="lt1"/>
              </a:solidFill>
            </a:endParaRPr>
          </a:p>
          <a:p>
            <a:pPr indent="-323850" lvl="0" marL="457200" marR="0" rtl="0" algn="l">
              <a:lnSpc>
                <a:spcPct val="115000"/>
              </a:lnSpc>
              <a:spcBef>
                <a:spcPts val="0"/>
              </a:spcBef>
              <a:spcAft>
                <a:spcPts val="0"/>
              </a:spcAft>
              <a:buClr>
                <a:srgbClr val="292929"/>
              </a:buClr>
              <a:buSzPts val="1500"/>
              <a:buFont typeface="Georgia"/>
              <a:buChar char="●"/>
            </a:pPr>
            <a:r>
              <a:rPr lang="en">
                <a:solidFill>
                  <a:schemeClr val="lt1"/>
                </a:solidFill>
              </a:rPr>
              <a:t>3x3 conv layer</a:t>
            </a:r>
            <a:endParaRPr>
              <a:solidFill>
                <a:schemeClr val="lt1"/>
              </a:solidFill>
            </a:endParaRPr>
          </a:p>
          <a:p>
            <a:pPr indent="-323850" lvl="0" marL="457200" marR="0" rtl="0" algn="l">
              <a:lnSpc>
                <a:spcPct val="115000"/>
              </a:lnSpc>
              <a:spcBef>
                <a:spcPts val="0"/>
              </a:spcBef>
              <a:spcAft>
                <a:spcPts val="0"/>
              </a:spcAft>
              <a:buClr>
                <a:srgbClr val="292929"/>
              </a:buClr>
              <a:buSzPts val="1500"/>
              <a:buFont typeface="Georgia"/>
              <a:buChar char="●"/>
            </a:pPr>
            <a:r>
              <a:rPr lang="en">
                <a:solidFill>
                  <a:schemeClr val="lt1"/>
                </a:solidFill>
              </a:rPr>
              <a:t>5x5 conv layer</a:t>
            </a:r>
            <a:endParaRPr>
              <a:solidFill>
                <a:schemeClr val="lt1"/>
              </a:solidFill>
            </a:endParaRPr>
          </a:p>
          <a:p>
            <a:pPr indent="-323850" lvl="0" marL="457200" marR="0" rtl="0" algn="l">
              <a:lnSpc>
                <a:spcPct val="115000"/>
              </a:lnSpc>
              <a:spcBef>
                <a:spcPts val="0"/>
              </a:spcBef>
              <a:spcAft>
                <a:spcPts val="0"/>
              </a:spcAft>
              <a:buClr>
                <a:srgbClr val="292929"/>
              </a:buClr>
              <a:buSzPts val="1500"/>
              <a:buFont typeface="Georgia"/>
              <a:buChar char="●"/>
            </a:pPr>
            <a:r>
              <a:rPr lang="en">
                <a:solidFill>
                  <a:schemeClr val="lt1"/>
                </a:solidFill>
              </a:rPr>
              <a:t>max pooling but with padding ‘same’</a:t>
            </a:r>
            <a:endParaRPr sz="1500">
              <a:solidFill>
                <a:srgbClr val="292929"/>
              </a:solidFill>
              <a:highlight>
                <a:srgbClr val="FFFFFF"/>
              </a:highlight>
              <a:latin typeface="Georgia"/>
              <a:ea typeface="Georgia"/>
              <a:cs typeface="Georgia"/>
              <a:sym typeface="Georgia"/>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3"/>
          <p:cNvSpPr txBox="1"/>
          <p:nvPr>
            <p:ph type="title"/>
          </p:nvPr>
        </p:nvSpPr>
        <p:spPr>
          <a:xfrm>
            <a:off x="246050" y="2152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Problems with Computation</a:t>
            </a:r>
            <a:endParaRPr>
              <a:solidFill>
                <a:schemeClr val="lt1"/>
              </a:solidFill>
            </a:endParaRPr>
          </a:p>
        </p:txBody>
      </p:sp>
      <p:sp>
        <p:nvSpPr>
          <p:cNvPr id="402" name="Google Shape;402;p73"/>
          <p:cNvSpPr txBox="1"/>
          <p:nvPr>
            <p:ph idx="1" type="body"/>
          </p:nvPr>
        </p:nvSpPr>
        <p:spPr>
          <a:xfrm>
            <a:off x="58650" y="4012050"/>
            <a:ext cx="8634600" cy="7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rPr>
              <a:t>Filters - 32  Filter Size - 5x5x192 </a:t>
            </a:r>
            <a:endParaRPr sz="1600">
              <a:solidFill>
                <a:schemeClr val="lt1"/>
              </a:solidFill>
            </a:endParaRPr>
          </a:p>
          <a:p>
            <a:pPr indent="0" lvl="0" marL="0" rtl="0" algn="l">
              <a:spcBef>
                <a:spcPts val="1200"/>
              </a:spcBef>
              <a:spcAft>
                <a:spcPts val="0"/>
              </a:spcAft>
              <a:buNone/>
            </a:pPr>
            <a:r>
              <a:rPr lang="en" sz="1600">
                <a:solidFill>
                  <a:schemeClr val="lt1"/>
                </a:solidFill>
              </a:rPr>
              <a:t>Total Multiplications:28*28*32*5*5*192  120 million operations</a:t>
            </a:r>
            <a:endParaRPr sz="1600">
              <a:solidFill>
                <a:schemeClr val="lt1"/>
              </a:solidFill>
            </a:endParaRPr>
          </a:p>
          <a:p>
            <a:pPr indent="0" lvl="0" marL="0" rtl="0" algn="l">
              <a:spcBef>
                <a:spcPts val="1200"/>
              </a:spcBef>
              <a:spcAft>
                <a:spcPts val="1200"/>
              </a:spcAft>
              <a:buNone/>
            </a:pPr>
            <a:r>
              <a:t/>
            </a:r>
            <a:endParaRPr sz="1600">
              <a:solidFill>
                <a:schemeClr val="lt1"/>
              </a:solidFill>
            </a:endParaRPr>
          </a:p>
        </p:txBody>
      </p:sp>
      <p:pic>
        <p:nvPicPr>
          <p:cNvPr id="403" name="Google Shape;403;p73"/>
          <p:cNvPicPr preferRelativeResize="0"/>
          <p:nvPr/>
        </p:nvPicPr>
        <p:blipFill>
          <a:blip r:embed="rId3">
            <a:alphaModFix/>
          </a:blip>
          <a:stretch>
            <a:fillRect/>
          </a:stretch>
        </p:blipFill>
        <p:spPr>
          <a:xfrm>
            <a:off x="732638" y="633500"/>
            <a:ext cx="7286625" cy="33785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74"/>
          <p:cNvSpPr txBox="1"/>
          <p:nvPr>
            <p:ph idx="4294967295" type="title"/>
          </p:nvPr>
        </p:nvSpPr>
        <p:spPr>
          <a:xfrm>
            <a:off x="311700" y="2371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Problem with Computational Cost</a:t>
            </a:r>
            <a:endParaRPr>
              <a:solidFill>
                <a:schemeClr val="lt1"/>
              </a:solidFill>
            </a:endParaRPr>
          </a:p>
        </p:txBody>
      </p:sp>
      <p:pic>
        <p:nvPicPr>
          <p:cNvPr id="409" name="Google Shape;409;p74"/>
          <p:cNvPicPr preferRelativeResize="0"/>
          <p:nvPr/>
        </p:nvPicPr>
        <p:blipFill>
          <a:blip r:embed="rId3">
            <a:alphaModFix/>
          </a:blip>
          <a:stretch>
            <a:fillRect/>
          </a:stretch>
        </p:blipFill>
        <p:spPr>
          <a:xfrm>
            <a:off x="97675" y="744150"/>
            <a:ext cx="9144000" cy="2872625"/>
          </a:xfrm>
          <a:prstGeom prst="rect">
            <a:avLst/>
          </a:prstGeom>
          <a:noFill/>
          <a:ln>
            <a:noFill/>
          </a:ln>
        </p:spPr>
      </p:pic>
      <p:sp>
        <p:nvSpPr>
          <p:cNvPr id="410" name="Google Shape;410;p74"/>
          <p:cNvSpPr txBox="1"/>
          <p:nvPr>
            <p:ph idx="1" type="body"/>
          </p:nvPr>
        </p:nvSpPr>
        <p:spPr>
          <a:xfrm>
            <a:off x="97675" y="3463575"/>
            <a:ext cx="4229100" cy="1218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lt1"/>
                </a:solidFill>
              </a:rPr>
              <a:t>Filters : 16</a:t>
            </a:r>
            <a:endParaRPr>
              <a:solidFill>
                <a:schemeClr val="lt1"/>
              </a:solidFill>
            </a:endParaRPr>
          </a:p>
          <a:p>
            <a:pPr indent="0" lvl="0" marL="0" rtl="0" algn="l">
              <a:spcBef>
                <a:spcPts val="0"/>
              </a:spcBef>
              <a:spcAft>
                <a:spcPts val="0"/>
              </a:spcAft>
              <a:buNone/>
            </a:pPr>
            <a:r>
              <a:rPr lang="en">
                <a:solidFill>
                  <a:schemeClr val="lt1"/>
                </a:solidFill>
              </a:rPr>
              <a:t>Size: 1X1</a:t>
            </a:r>
            <a:endParaRPr>
              <a:solidFill>
                <a:schemeClr val="lt1"/>
              </a:solidFill>
            </a:endParaRPr>
          </a:p>
          <a:p>
            <a:pPr indent="0" lvl="0" marL="0" rtl="0" algn="l">
              <a:spcBef>
                <a:spcPts val="0"/>
              </a:spcBef>
              <a:spcAft>
                <a:spcPts val="0"/>
              </a:spcAft>
              <a:buNone/>
            </a:pPr>
            <a:r>
              <a:rPr lang="en">
                <a:solidFill>
                  <a:schemeClr val="lt1"/>
                </a:solidFill>
              </a:rPr>
              <a:t>Multiplications: 28 *28*16 * 192 = 2.4m</a:t>
            </a:r>
            <a:endParaRPr>
              <a:solidFill>
                <a:schemeClr val="lt1"/>
              </a:solidFill>
            </a:endParaRPr>
          </a:p>
        </p:txBody>
      </p:sp>
      <p:sp>
        <p:nvSpPr>
          <p:cNvPr id="411" name="Google Shape;411;p74"/>
          <p:cNvSpPr txBox="1"/>
          <p:nvPr>
            <p:ph idx="1" type="body"/>
          </p:nvPr>
        </p:nvSpPr>
        <p:spPr>
          <a:xfrm>
            <a:off x="4572000" y="3463575"/>
            <a:ext cx="4995600" cy="1218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solidFill>
                  <a:schemeClr val="lt1"/>
                </a:solidFill>
              </a:rPr>
              <a:t>Filters : 32</a:t>
            </a:r>
            <a:endParaRPr>
              <a:solidFill>
                <a:schemeClr val="lt1"/>
              </a:solidFill>
            </a:endParaRPr>
          </a:p>
          <a:p>
            <a:pPr indent="0" lvl="0" marL="0" rtl="0" algn="l">
              <a:spcBef>
                <a:spcPts val="0"/>
              </a:spcBef>
              <a:spcAft>
                <a:spcPts val="0"/>
              </a:spcAft>
              <a:buNone/>
            </a:pPr>
            <a:r>
              <a:rPr lang="en">
                <a:solidFill>
                  <a:schemeClr val="lt1"/>
                </a:solidFill>
              </a:rPr>
              <a:t>Size: 5x5</a:t>
            </a:r>
            <a:endParaRPr>
              <a:solidFill>
                <a:schemeClr val="lt1"/>
              </a:solidFill>
            </a:endParaRPr>
          </a:p>
          <a:p>
            <a:pPr indent="0" lvl="0" marL="0" rtl="0" algn="l">
              <a:spcBef>
                <a:spcPts val="0"/>
              </a:spcBef>
              <a:spcAft>
                <a:spcPts val="0"/>
              </a:spcAft>
              <a:buNone/>
            </a:pPr>
            <a:r>
              <a:rPr lang="en">
                <a:solidFill>
                  <a:schemeClr val="lt1"/>
                </a:solidFill>
              </a:rPr>
              <a:t>Multiplications</a:t>
            </a:r>
            <a:r>
              <a:rPr lang="en">
                <a:solidFill>
                  <a:schemeClr val="lt1"/>
                </a:solidFill>
              </a:rPr>
              <a:t>: 28 *28*32 * 5*5*16= 10m</a:t>
            </a:r>
            <a:endParaRPr>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Inception Layer</a:t>
            </a:r>
            <a:endParaRPr>
              <a:solidFill>
                <a:schemeClr val="lt1"/>
              </a:solidFill>
            </a:endParaRPr>
          </a:p>
        </p:txBody>
      </p:sp>
      <p:pic>
        <p:nvPicPr>
          <p:cNvPr id="417" name="Google Shape;417;p75"/>
          <p:cNvPicPr preferRelativeResize="0"/>
          <p:nvPr/>
        </p:nvPicPr>
        <p:blipFill>
          <a:blip r:embed="rId3">
            <a:alphaModFix/>
          </a:blip>
          <a:stretch>
            <a:fillRect/>
          </a:stretch>
        </p:blipFill>
        <p:spPr>
          <a:xfrm>
            <a:off x="0" y="2492895"/>
            <a:ext cx="9144001" cy="2596110"/>
          </a:xfrm>
          <a:prstGeom prst="rect">
            <a:avLst/>
          </a:prstGeom>
          <a:noFill/>
          <a:ln>
            <a:noFill/>
          </a:ln>
        </p:spPr>
      </p:pic>
      <p:sp>
        <p:nvSpPr>
          <p:cNvPr id="418" name="Google Shape;418;p75"/>
          <p:cNvSpPr txBox="1"/>
          <p:nvPr/>
        </p:nvSpPr>
        <p:spPr>
          <a:xfrm>
            <a:off x="2239625" y="1381075"/>
            <a:ext cx="5377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1x1 convolutions are used to reduce the dimensions of the feature maps resulting in less computations overall</a:t>
            </a:r>
            <a:endParaRPr>
              <a:latin typeface="Open Sans"/>
              <a:ea typeface="Open Sans"/>
              <a:cs typeface="Open Sans"/>
              <a:sym typeface="Open Sans"/>
            </a:endParaRPr>
          </a:p>
        </p:txBody>
      </p:sp>
      <p:cxnSp>
        <p:nvCxnSpPr>
          <p:cNvPr id="419" name="Google Shape;419;p75"/>
          <p:cNvCxnSpPr/>
          <p:nvPr/>
        </p:nvCxnSpPr>
        <p:spPr>
          <a:xfrm>
            <a:off x="4838950" y="1935325"/>
            <a:ext cx="936300" cy="767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GoogleNet: Representational Bottleneck</a:t>
            </a:r>
            <a:endParaRPr/>
          </a:p>
        </p:txBody>
      </p:sp>
      <p:sp>
        <p:nvSpPr>
          <p:cNvPr id="425" name="Google Shape;425;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26" name="Google Shape;426;p76"/>
          <p:cNvPicPr preferRelativeResize="0"/>
          <p:nvPr/>
        </p:nvPicPr>
        <p:blipFill>
          <a:blip r:embed="rId3">
            <a:alphaModFix/>
          </a:blip>
          <a:stretch>
            <a:fillRect/>
          </a:stretch>
        </p:blipFill>
        <p:spPr>
          <a:xfrm>
            <a:off x="121325" y="968229"/>
            <a:ext cx="5373501" cy="2722475"/>
          </a:xfrm>
          <a:prstGeom prst="rect">
            <a:avLst/>
          </a:prstGeom>
          <a:noFill/>
          <a:ln>
            <a:noFill/>
          </a:ln>
        </p:spPr>
      </p:pic>
      <p:cxnSp>
        <p:nvCxnSpPr>
          <p:cNvPr id="427" name="Google Shape;427;p76"/>
          <p:cNvCxnSpPr/>
          <p:nvPr/>
        </p:nvCxnSpPr>
        <p:spPr>
          <a:xfrm rot="10800000">
            <a:off x="3451575" y="2939075"/>
            <a:ext cx="1243500" cy="613500"/>
          </a:xfrm>
          <a:prstGeom prst="straightConnector1">
            <a:avLst/>
          </a:prstGeom>
          <a:noFill/>
          <a:ln cap="flat" cmpd="sng" w="9525">
            <a:solidFill>
              <a:srgbClr val="FF0000"/>
            </a:solidFill>
            <a:prstDash val="solid"/>
            <a:round/>
            <a:headEnd len="med" w="med" type="none"/>
            <a:tailEnd len="med" w="med" type="triangle"/>
          </a:ln>
        </p:spPr>
      </p:cxnSp>
      <p:sp>
        <p:nvSpPr>
          <p:cNvPr id="428" name="Google Shape;428;p76"/>
          <p:cNvSpPr txBox="1"/>
          <p:nvPr/>
        </p:nvSpPr>
        <p:spPr>
          <a:xfrm>
            <a:off x="2974550" y="3536025"/>
            <a:ext cx="55269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latin typeface="Open Sans"/>
                <a:ea typeface="Open Sans"/>
                <a:cs typeface="Open Sans"/>
                <a:sym typeface="Open Sans"/>
              </a:rPr>
              <a:t>If the dimensional reduction from the 1x1 convolution is too high the network loses too much information.</a:t>
            </a:r>
            <a:endParaRPr>
              <a:solidFill>
                <a:srgbClr val="FF0000"/>
              </a:solidFill>
              <a:latin typeface="Open Sans"/>
              <a:ea typeface="Open Sans"/>
              <a:cs typeface="Open Sans"/>
              <a:sym typeface="Open Sans"/>
            </a:endParaRPr>
          </a:p>
          <a:p>
            <a:pPr indent="0" lvl="0" marL="0" rtl="0" algn="l">
              <a:spcBef>
                <a:spcPts val="0"/>
              </a:spcBef>
              <a:spcAft>
                <a:spcPts val="0"/>
              </a:spcAft>
              <a:buNone/>
            </a:pPr>
            <a:r>
              <a:rPr lang="en">
                <a:solidFill>
                  <a:srgbClr val="FF0000"/>
                </a:solidFill>
                <a:latin typeface="Open Sans"/>
                <a:ea typeface="Open Sans"/>
                <a:cs typeface="Open Sans"/>
                <a:sym typeface="Open Sans"/>
              </a:rPr>
              <a:t>This is known as the representational bottleneck</a:t>
            </a:r>
            <a:endParaRPr>
              <a:solidFill>
                <a:srgbClr val="FF0000"/>
              </a:solidFill>
              <a:latin typeface="Open Sans"/>
              <a:ea typeface="Open Sans"/>
              <a:cs typeface="Open Sans"/>
              <a:sym typeface="Open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(Inception v1)</a:t>
            </a:r>
            <a:endParaRPr>
              <a:solidFill>
                <a:schemeClr val="lt1"/>
              </a:solidFill>
            </a:endParaRPr>
          </a:p>
        </p:txBody>
      </p:sp>
      <p:pic>
        <p:nvPicPr>
          <p:cNvPr id="434" name="Google Shape;434;p77"/>
          <p:cNvPicPr preferRelativeResize="0"/>
          <p:nvPr/>
        </p:nvPicPr>
        <p:blipFill>
          <a:blip r:embed="rId3">
            <a:alphaModFix/>
          </a:blip>
          <a:stretch>
            <a:fillRect/>
          </a:stretch>
        </p:blipFill>
        <p:spPr>
          <a:xfrm>
            <a:off x="76200" y="1310550"/>
            <a:ext cx="9000650" cy="3832950"/>
          </a:xfrm>
          <a:prstGeom prst="rect">
            <a:avLst/>
          </a:prstGeom>
          <a:noFill/>
          <a:ln>
            <a:noFill/>
          </a:ln>
        </p:spPr>
      </p:pic>
      <p:sp>
        <p:nvSpPr>
          <p:cNvPr id="435" name="Google Shape;435;p77"/>
          <p:cNvSpPr txBox="1"/>
          <p:nvPr/>
        </p:nvSpPr>
        <p:spPr>
          <a:xfrm>
            <a:off x="879450" y="4141450"/>
            <a:ext cx="3068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Open Sans"/>
                <a:ea typeface="Open Sans"/>
                <a:cs typeface="Open Sans"/>
                <a:sym typeface="Open Sans"/>
              </a:rPr>
              <a:t>9 Inception blocks 22 Layers in total</a:t>
            </a:r>
            <a:endParaRPr sz="2400">
              <a:latin typeface="Open Sans"/>
              <a:ea typeface="Open Sans"/>
              <a:cs typeface="Open Sans"/>
              <a:sym typeface="Open Sans"/>
            </a:endParaRPr>
          </a:p>
        </p:txBody>
      </p:sp>
      <p:cxnSp>
        <p:nvCxnSpPr>
          <p:cNvPr id="436" name="Google Shape;436;p77"/>
          <p:cNvCxnSpPr/>
          <p:nvPr/>
        </p:nvCxnSpPr>
        <p:spPr>
          <a:xfrm flipH="1" rot="10800000">
            <a:off x="2306400" y="3633850"/>
            <a:ext cx="214200" cy="507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Auxiliary classification heads</a:t>
            </a:r>
            <a:endParaRPr>
              <a:solidFill>
                <a:schemeClr val="lt1"/>
              </a:solidFill>
            </a:endParaRPr>
          </a:p>
        </p:txBody>
      </p:sp>
      <p:sp>
        <p:nvSpPr>
          <p:cNvPr id="442" name="Google Shape;442;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3" name="Google Shape;443;p78"/>
          <p:cNvPicPr preferRelativeResize="0"/>
          <p:nvPr/>
        </p:nvPicPr>
        <p:blipFill>
          <a:blip r:embed="rId3">
            <a:alphaModFix/>
          </a:blip>
          <a:stretch>
            <a:fillRect/>
          </a:stretch>
        </p:blipFill>
        <p:spPr>
          <a:xfrm>
            <a:off x="19050" y="909638"/>
            <a:ext cx="7886700" cy="2867025"/>
          </a:xfrm>
          <a:prstGeom prst="rect">
            <a:avLst/>
          </a:prstGeom>
          <a:noFill/>
          <a:ln>
            <a:noFill/>
          </a:ln>
        </p:spPr>
      </p:pic>
      <p:cxnSp>
        <p:nvCxnSpPr>
          <p:cNvPr id="444" name="Google Shape;444;p78"/>
          <p:cNvCxnSpPr/>
          <p:nvPr/>
        </p:nvCxnSpPr>
        <p:spPr>
          <a:xfrm flipH="1" rot="10800000">
            <a:off x="2540675" y="3084875"/>
            <a:ext cx="801000" cy="586500"/>
          </a:xfrm>
          <a:prstGeom prst="straightConnector1">
            <a:avLst/>
          </a:prstGeom>
          <a:noFill/>
          <a:ln cap="flat" cmpd="sng" w="9525">
            <a:solidFill>
              <a:schemeClr val="dk2"/>
            </a:solidFill>
            <a:prstDash val="solid"/>
            <a:round/>
            <a:headEnd len="med" w="med" type="none"/>
            <a:tailEnd len="med" w="med" type="triangle"/>
          </a:ln>
        </p:spPr>
      </p:cxnSp>
      <p:sp>
        <p:nvSpPr>
          <p:cNvPr id="445" name="Google Shape;445;p78"/>
          <p:cNvSpPr txBox="1"/>
          <p:nvPr/>
        </p:nvSpPr>
        <p:spPr>
          <a:xfrm>
            <a:off x="230100" y="3640300"/>
            <a:ext cx="6497100" cy="9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Deeper networks suffer from the vanishing gradient problem =&gt; Improve feedback flow by adding classification heads spanning from early layers</a:t>
            </a:r>
            <a:endParaRPr>
              <a:latin typeface="Open Sans"/>
              <a:ea typeface="Open Sans"/>
              <a:cs typeface="Open Sans"/>
              <a:sym typeface="Open Sans"/>
            </a:endParaRPr>
          </a:p>
        </p:txBody>
      </p:sp>
      <p:pic>
        <p:nvPicPr>
          <p:cNvPr id="446" name="Google Shape;446;p78"/>
          <p:cNvPicPr preferRelativeResize="0"/>
          <p:nvPr/>
        </p:nvPicPr>
        <p:blipFill>
          <a:blip r:embed="rId4">
            <a:alphaModFix/>
          </a:blip>
          <a:stretch>
            <a:fillRect/>
          </a:stretch>
        </p:blipFill>
        <p:spPr>
          <a:xfrm>
            <a:off x="6825750" y="2919325"/>
            <a:ext cx="2006542" cy="1649550"/>
          </a:xfrm>
          <a:prstGeom prst="rect">
            <a:avLst/>
          </a:prstGeom>
          <a:noFill/>
          <a:ln>
            <a:noFill/>
          </a:ln>
        </p:spPr>
      </p:pic>
      <p:cxnSp>
        <p:nvCxnSpPr>
          <p:cNvPr id="447" name="Google Shape;447;p78"/>
          <p:cNvCxnSpPr/>
          <p:nvPr/>
        </p:nvCxnSpPr>
        <p:spPr>
          <a:xfrm flipH="1" rot="10800000">
            <a:off x="4674275" y="2989175"/>
            <a:ext cx="988200" cy="758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GoogleNet: Auxiliary classification heads</a:t>
            </a:r>
            <a:endParaRPr>
              <a:solidFill>
                <a:schemeClr val="lt1"/>
              </a:solidFill>
            </a:endParaRPr>
          </a:p>
        </p:txBody>
      </p:sp>
      <p:sp>
        <p:nvSpPr>
          <p:cNvPr id="453" name="Google Shape;453;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lt1"/>
              </a:buClr>
              <a:buSzPts val="1800"/>
              <a:buChar char="●"/>
            </a:pPr>
            <a:r>
              <a:rPr lang="en">
                <a:solidFill>
                  <a:schemeClr val="lt1"/>
                </a:solidFill>
              </a:rPr>
              <a:t>GoogLeNet</a:t>
            </a:r>
            <a:r>
              <a:rPr lang="en">
                <a:solidFill>
                  <a:schemeClr val="lt1"/>
                </a:solidFill>
              </a:rPr>
              <a:t> is a deep classifier and suffers from vanishing gradient</a:t>
            </a:r>
            <a:endParaRPr>
              <a:solidFill>
                <a:schemeClr val="lt1"/>
              </a:solidFill>
            </a:endParaRPr>
          </a:p>
          <a:p>
            <a:pPr indent="-342900" lvl="0" marL="457200" marR="0" rtl="0" algn="l">
              <a:lnSpc>
                <a:spcPct val="115000"/>
              </a:lnSpc>
              <a:spcBef>
                <a:spcPts val="0"/>
              </a:spcBef>
              <a:spcAft>
                <a:spcPts val="0"/>
              </a:spcAft>
              <a:buClr>
                <a:schemeClr val="lt1"/>
              </a:buClr>
              <a:buSzPts val="1800"/>
              <a:buChar char="●"/>
            </a:pPr>
            <a:r>
              <a:rPr lang="en">
                <a:solidFill>
                  <a:schemeClr val="lt1"/>
                </a:solidFill>
              </a:rPr>
              <a:t>To prevent the middle part of the network from “dying out”, </a:t>
            </a:r>
            <a:r>
              <a:rPr lang="en">
                <a:solidFill>
                  <a:schemeClr val="lt1"/>
                </a:solidFill>
              </a:rPr>
              <a:t>two auxiliary classifiers</a:t>
            </a:r>
            <a:r>
              <a:rPr lang="en">
                <a:solidFill>
                  <a:schemeClr val="lt1"/>
                </a:solidFill>
              </a:rPr>
              <a:t> were introduced</a:t>
            </a:r>
            <a:endParaRPr>
              <a:solidFill>
                <a:schemeClr val="lt1"/>
              </a:solidFill>
            </a:endParaRPr>
          </a:p>
          <a:p>
            <a:pPr indent="-342900" lvl="0" marL="457200" marR="0" rtl="0" algn="l">
              <a:lnSpc>
                <a:spcPct val="115000"/>
              </a:lnSpc>
              <a:spcBef>
                <a:spcPts val="0"/>
              </a:spcBef>
              <a:spcAft>
                <a:spcPts val="0"/>
              </a:spcAft>
              <a:buClr>
                <a:schemeClr val="lt1"/>
              </a:buClr>
              <a:buSzPts val="1800"/>
              <a:buChar char="●"/>
            </a:pPr>
            <a:r>
              <a:rPr lang="en">
                <a:solidFill>
                  <a:schemeClr val="lt1"/>
                </a:solidFill>
              </a:rPr>
              <a:t>The total loss is a weighted sum of the auxiliary loss and the real loss.</a:t>
            </a:r>
            <a:endParaRPr>
              <a:solidFill>
                <a:schemeClr val="lt1"/>
              </a:solidFill>
            </a:endParaRPr>
          </a:p>
          <a:p>
            <a:pPr indent="-342900" lvl="0" marL="457200" marR="0" rtl="0" algn="l">
              <a:lnSpc>
                <a:spcPct val="115000"/>
              </a:lnSpc>
              <a:spcBef>
                <a:spcPts val="0"/>
              </a:spcBef>
              <a:spcAft>
                <a:spcPts val="0"/>
              </a:spcAft>
              <a:buClr>
                <a:schemeClr val="lt1"/>
              </a:buClr>
              <a:buSzPts val="1800"/>
              <a:buChar char="●"/>
            </a:pPr>
            <a:r>
              <a:rPr lang="en">
                <a:solidFill>
                  <a:schemeClr val="lt1"/>
                </a:solidFill>
              </a:rPr>
              <a:t>Weight value used in the paper was 0.3 for each auxiliary loss.</a:t>
            </a:r>
            <a:endParaRPr>
              <a:solidFill>
                <a:schemeClr val="lt1"/>
              </a:solidFill>
            </a:endParaRPr>
          </a:p>
          <a:p>
            <a:pPr indent="-342900" lvl="0" marL="457200" marR="0" rtl="0" algn="l">
              <a:lnSpc>
                <a:spcPct val="115000"/>
              </a:lnSpc>
              <a:spcBef>
                <a:spcPts val="0"/>
              </a:spcBef>
              <a:spcAft>
                <a:spcPts val="0"/>
              </a:spcAft>
              <a:buClr>
                <a:schemeClr val="lt1"/>
              </a:buClr>
              <a:buSzPts val="1800"/>
              <a:buChar char="●"/>
            </a:pPr>
            <a:r>
              <a:rPr lang="en">
                <a:solidFill>
                  <a:schemeClr val="lt1"/>
                </a:solidFill>
              </a:rPr>
              <a:t>total_loss = real_loss + 0.3 * aux_loss_1 + 0.3 * aux_loss_2</a:t>
            </a:r>
            <a:endParaRPr>
              <a:solidFill>
                <a:schemeClr val="lt1"/>
              </a:solidFill>
            </a:endParaRPr>
          </a:p>
          <a:p>
            <a:pPr indent="-342900" lvl="0" marL="457200" marR="0" rtl="0" algn="l">
              <a:lnSpc>
                <a:spcPct val="115000"/>
              </a:lnSpc>
              <a:spcBef>
                <a:spcPts val="0"/>
              </a:spcBef>
              <a:spcAft>
                <a:spcPts val="0"/>
              </a:spcAft>
              <a:buClr>
                <a:schemeClr val="lt1"/>
              </a:buClr>
              <a:buSzPts val="1800"/>
              <a:buChar char="●"/>
            </a:pPr>
            <a:r>
              <a:rPr lang="en">
                <a:solidFill>
                  <a:schemeClr val="lt1"/>
                </a:solidFill>
              </a:rPr>
              <a:t>The auxiliary loss is purely used for training purposes, and is ignored during inference.</a:t>
            </a:r>
            <a:endParaRPr>
              <a:solidFill>
                <a:schemeClr val="lt1"/>
              </a:solidFill>
            </a:endParaRPr>
          </a:p>
          <a:p>
            <a:pPr indent="0" lvl="0" marL="0" marR="0" rtl="0" algn="l">
              <a:lnSpc>
                <a:spcPct val="115000"/>
              </a:lnSpc>
              <a:spcBef>
                <a:spcPts val="1200"/>
              </a:spcBef>
              <a:spcAft>
                <a:spcPts val="1200"/>
              </a:spcAft>
              <a:buNone/>
            </a:pPr>
            <a:r>
              <a:t/>
            </a:r>
            <a:endParaRPr>
              <a:solidFill>
                <a:schemeClr val="l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Inception v2 </a:t>
            </a:r>
            <a:endParaRPr>
              <a:solidFill>
                <a:srgbClr val="FF0000"/>
              </a:solidFill>
            </a:endParaRPr>
          </a:p>
        </p:txBody>
      </p:sp>
      <p:sp>
        <p:nvSpPr>
          <p:cNvPr id="459" name="Google Shape;459;p8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Published in 2015</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Factorize the 5x5 convolution  to a cascade of 2 3x3 convolutions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Improves speed by factorization</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2.78 faster to apply 2  3x3 than 1 5x5</a:t>
            </a:r>
            <a:endParaRPr>
              <a:solidFill>
                <a:schemeClr val="lt1"/>
              </a:solidFill>
            </a:endParaRPr>
          </a:p>
        </p:txBody>
      </p:sp>
      <p:pic>
        <p:nvPicPr>
          <p:cNvPr id="460" name="Google Shape;460;p80"/>
          <p:cNvPicPr preferRelativeResize="0"/>
          <p:nvPr/>
        </p:nvPicPr>
        <p:blipFill>
          <a:blip r:embed="rId3">
            <a:alphaModFix/>
          </a:blip>
          <a:stretch>
            <a:fillRect/>
          </a:stretch>
        </p:blipFill>
        <p:spPr>
          <a:xfrm>
            <a:off x="5583975" y="1921403"/>
            <a:ext cx="3396895" cy="3104150"/>
          </a:xfrm>
          <a:prstGeom prst="rect">
            <a:avLst/>
          </a:prstGeom>
          <a:noFill/>
          <a:ln>
            <a:noFill/>
          </a:ln>
        </p:spPr>
      </p:pic>
      <p:sp>
        <p:nvSpPr>
          <p:cNvPr id="461" name="Google Shape;461;p80"/>
          <p:cNvSpPr/>
          <p:nvPr/>
        </p:nvSpPr>
        <p:spPr>
          <a:xfrm>
            <a:off x="5672850" y="2571750"/>
            <a:ext cx="755700" cy="1714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8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Inception v2: Further factorization</a:t>
            </a:r>
            <a:endParaRPr>
              <a:solidFill>
                <a:schemeClr val="lt1"/>
              </a:solidFill>
            </a:endParaRPr>
          </a:p>
        </p:txBody>
      </p:sp>
      <p:sp>
        <p:nvSpPr>
          <p:cNvPr id="467" name="Google Shape;467;p81"/>
          <p:cNvSpPr txBox="1"/>
          <p:nvPr>
            <p:ph idx="1" type="body"/>
          </p:nvPr>
        </p:nvSpPr>
        <p:spPr>
          <a:xfrm>
            <a:off x="2904000" y="1152475"/>
            <a:ext cx="5928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 They factorize convolutions of filter size nxn to a combination of 1xn and nx1 convolutions.</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A 3x3 convolution is equivalent to first performing a 1x3 convolution, and then performing a 3x1 convolution on its output. </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This method to be 33% cheaper than the single 3x3 convolution. </a:t>
            </a:r>
            <a:endParaRPr>
              <a:solidFill>
                <a:schemeClr val="lt1"/>
              </a:solidFill>
            </a:endParaRPr>
          </a:p>
        </p:txBody>
      </p:sp>
      <p:pic>
        <p:nvPicPr>
          <p:cNvPr id="468" name="Google Shape;468;p81"/>
          <p:cNvPicPr preferRelativeResize="0"/>
          <p:nvPr/>
        </p:nvPicPr>
        <p:blipFill>
          <a:blip r:embed="rId3">
            <a:alphaModFix/>
          </a:blip>
          <a:stretch>
            <a:fillRect/>
          </a:stretch>
        </p:blipFill>
        <p:spPr>
          <a:xfrm>
            <a:off x="0" y="914275"/>
            <a:ext cx="3069450" cy="3654600"/>
          </a:xfrm>
          <a:prstGeom prst="rect">
            <a:avLst/>
          </a:prstGeom>
          <a:noFill/>
          <a:ln>
            <a:noFill/>
          </a:ln>
        </p:spPr>
      </p:pic>
      <p:sp>
        <p:nvSpPr>
          <p:cNvPr id="469" name="Google Shape;469;p81"/>
          <p:cNvSpPr/>
          <p:nvPr/>
        </p:nvSpPr>
        <p:spPr>
          <a:xfrm>
            <a:off x="235650" y="2571750"/>
            <a:ext cx="534900" cy="886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rPr>
              <a:t>Inception v3 </a:t>
            </a:r>
            <a:endParaRPr>
              <a:solidFill>
                <a:srgbClr val="980000"/>
              </a:solidFill>
            </a:endParaRPr>
          </a:p>
        </p:txBody>
      </p:sp>
      <p:sp>
        <p:nvSpPr>
          <p:cNvPr id="475" name="Google Shape;475;p82"/>
          <p:cNvSpPr txBox="1"/>
          <p:nvPr>
            <p:ph idx="1" type="body"/>
          </p:nvPr>
        </p:nvSpPr>
        <p:spPr>
          <a:xfrm>
            <a:off x="311700" y="1152475"/>
            <a:ext cx="8520600" cy="355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solidFill>
                  <a:schemeClr val="lt1"/>
                </a:solidFill>
              </a:rPr>
              <a:t>Published in 2015</a:t>
            </a:r>
            <a:endParaRPr>
              <a:solidFill>
                <a:schemeClr val="lt1"/>
              </a:solidFill>
            </a:endParaRPr>
          </a:p>
          <a:p>
            <a:pPr indent="0" lvl="0" marL="0" rtl="0" algn="l">
              <a:spcBef>
                <a:spcPts val="1200"/>
              </a:spcBef>
              <a:spcAft>
                <a:spcPts val="0"/>
              </a:spcAft>
              <a:buNone/>
            </a:pPr>
            <a:r>
              <a:rPr lang="en">
                <a:solidFill>
                  <a:schemeClr val="lt1"/>
                </a:solidFill>
              </a:rPr>
              <a:t>In addition to v2 improvements:</a:t>
            </a:r>
            <a:endParaRPr>
              <a:solidFill>
                <a:schemeClr val="lt1"/>
              </a:solidFill>
            </a:endParaRPr>
          </a:p>
          <a:p>
            <a:pPr indent="457200" lvl="0" marL="0" rtl="0" algn="l">
              <a:spcBef>
                <a:spcPts val="1200"/>
              </a:spcBef>
              <a:spcAft>
                <a:spcPts val="0"/>
              </a:spcAft>
              <a:buClr>
                <a:schemeClr val="dk1"/>
              </a:buClr>
              <a:buSzPct val="61111"/>
              <a:buFont typeface="Arial"/>
              <a:buNone/>
            </a:pPr>
            <a:r>
              <a:rPr lang="en">
                <a:solidFill>
                  <a:schemeClr val="lt1"/>
                </a:solidFill>
              </a:rPr>
              <a:t>RMSProp Optimizer</a:t>
            </a:r>
            <a:endParaRPr>
              <a:solidFill>
                <a:schemeClr val="lt1"/>
              </a:solidFill>
            </a:endParaRPr>
          </a:p>
          <a:p>
            <a:pPr indent="457200" lvl="0" marL="0" rtl="0" algn="l">
              <a:spcBef>
                <a:spcPts val="1200"/>
              </a:spcBef>
              <a:spcAft>
                <a:spcPts val="0"/>
              </a:spcAft>
              <a:buClr>
                <a:schemeClr val="dk1"/>
              </a:buClr>
              <a:buSzPct val="61111"/>
              <a:buFont typeface="Arial"/>
              <a:buNone/>
            </a:pPr>
            <a:r>
              <a:rPr lang="en">
                <a:solidFill>
                  <a:schemeClr val="lt1"/>
                </a:solidFill>
              </a:rPr>
              <a:t>Factorized 7x7 convolutions.</a:t>
            </a:r>
            <a:endParaRPr>
              <a:solidFill>
                <a:schemeClr val="lt1"/>
              </a:solidFill>
            </a:endParaRPr>
          </a:p>
          <a:p>
            <a:pPr indent="457200" lvl="0" marL="0" rtl="0" algn="l">
              <a:spcBef>
                <a:spcPts val="1200"/>
              </a:spcBef>
              <a:spcAft>
                <a:spcPts val="0"/>
              </a:spcAft>
              <a:buClr>
                <a:schemeClr val="dk1"/>
              </a:buClr>
              <a:buSzPct val="61111"/>
              <a:buFont typeface="Arial"/>
              <a:buNone/>
            </a:pPr>
            <a:r>
              <a:rPr lang="en">
                <a:solidFill>
                  <a:schemeClr val="lt1"/>
                </a:solidFill>
              </a:rPr>
              <a:t>BatchNorm in the Auxiliary Classifiers.</a:t>
            </a:r>
            <a:endParaRPr>
              <a:solidFill>
                <a:schemeClr val="lt1"/>
              </a:solidFill>
            </a:endParaRPr>
          </a:p>
          <a:p>
            <a:pPr indent="0" lvl="0" marL="457200" rtl="0" algn="l">
              <a:spcBef>
                <a:spcPts val="1200"/>
              </a:spcBef>
              <a:spcAft>
                <a:spcPts val="0"/>
              </a:spcAft>
              <a:buClr>
                <a:schemeClr val="dk1"/>
              </a:buClr>
              <a:buSzPct val="61111"/>
              <a:buFont typeface="Arial"/>
              <a:buNone/>
            </a:pPr>
            <a:r>
              <a:rPr lang="en">
                <a:solidFill>
                  <a:schemeClr val="lt1"/>
                </a:solidFill>
              </a:rPr>
              <a:t>Label Smoothing</a:t>
            </a:r>
            <a:r>
              <a:rPr lang="en">
                <a:solidFill>
                  <a:schemeClr val="lt1"/>
                </a:solidFill>
              </a:rPr>
              <a:t> the ground-truth label (i.e., the correct class label) for a training example with a smoothed distribution over all classes - the ground-truth label [1, 0, 0] is replaced with a smoothed distribution, such as [0.9, 0.05, 0.05] or [0.7, 0.1, 0.2]</a:t>
            </a:r>
            <a:endParaRPr>
              <a:solidFill>
                <a:schemeClr val="lt1"/>
              </a:solidFill>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8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MobileNet</a:t>
            </a:r>
            <a:endParaRPr>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MobileNet Motivation</a:t>
            </a:r>
            <a:endParaRPr>
              <a:solidFill>
                <a:schemeClr val="lt1"/>
              </a:solidFill>
            </a:endParaRPr>
          </a:p>
        </p:txBody>
      </p:sp>
      <p:sp>
        <p:nvSpPr>
          <p:cNvPr id="486" name="Google Shape;486;p8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93065" lvl="0" marL="457200" rtl="0" algn="l">
              <a:lnSpc>
                <a:spcPct val="115000"/>
              </a:lnSpc>
              <a:spcBef>
                <a:spcPts val="0"/>
              </a:spcBef>
              <a:spcAft>
                <a:spcPts val="0"/>
              </a:spcAft>
              <a:buClr>
                <a:srgbClr val="000000"/>
              </a:buClr>
              <a:buSzPct val="100000"/>
              <a:buChar char="●"/>
            </a:pPr>
            <a:r>
              <a:rPr lang="en" sz="2800">
                <a:solidFill>
                  <a:srgbClr val="000000"/>
                </a:solidFill>
              </a:rPr>
              <a:t>Published in 2019</a:t>
            </a:r>
            <a:endParaRPr sz="2800">
              <a:solidFill>
                <a:srgbClr val="000000"/>
              </a:solidFill>
            </a:endParaRPr>
          </a:p>
          <a:p>
            <a:pPr indent="-393065" lvl="0" marL="457200" rtl="0" algn="l">
              <a:lnSpc>
                <a:spcPct val="115000"/>
              </a:lnSpc>
              <a:spcBef>
                <a:spcPts val="0"/>
              </a:spcBef>
              <a:spcAft>
                <a:spcPts val="0"/>
              </a:spcAft>
              <a:buClr>
                <a:srgbClr val="000000"/>
              </a:buClr>
              <a:buSzPct val="100000"/>
              <a:buChar char="●"/>
            </a:pPr>
            <a:r>
              <a:rPr lang="en" sz="2800">
                <a:solidFill>
                  <a:srgbClr val="000000"/>
                </a:solidFill>
              </a:rPr>
              <a:t>Low computational cost at deployment</a:t>
            </a:r>
            <a:endParaRPr sz="2800">
              <a:solidFill>
                <a:srgbClr val="000000"/>
              </a:solidFill>
            </a:endParaRPr>
          </a:p>
          <a:p>
            <a:pPr indent="-393065" lvl="0" marL="457200" rtl="0" algn="l">
              <a:lnSpc>
                <a:spcPct val="115000"/>
              </a:lnSpc>
              <a:spcBef>
                <a:spcPts val="0"/>
              </a:spcBef>
              <a:spcAft>
                <a:spcPts val="0"/>
              </a:spcAft>
              <a:buClr>
                <a:srgbClr val="000000"/>
              </a:buClr>
              <a:buSzPct val="100000"/>
              <a:buChar char="●"/>
            </a:pPr>
            <a:r>
              <a:rPr lang="en" sz="2800">
                <a:solidFill>
                  <a:srgbClr val="000000"/>
                </a:solidFill>
              </a:rPr>
              <a:t>Useful for mobile vision  applications</a:t>
            </a:r>
            <a:endParaRPr sz="2800">
              <a:solidFill>
                <a:srgbClr val="000000"/>
              </a:solidFill>
            </a:endParaRPr>
          </a:p>
          <a:p>
            <a:pPr indent="-393065" lvl="0" marL="457200" rtl="0" algn="l">
              <a:lnSpc>
                <a:spcPct val="115000"/>
              </a:lnSpc>
              <a:spcBef>
                <a:spcPts val="0"/>
              </a:spcBef>
              <a:spcAft>
                <a:spcPts val="0"/>
              </a:spcAft>
              <a:buClr>
                <a:srgbClr val="000000"/>
              </a:buClr>
              <a:buSzPct val="100000"/>
              <a:buChar char="●"/>
            </a:pPr>
            <a:r>
              <a:rPr lang="en" sz="2800">
                <a:solidFill>
                  <a:srgbClr val="000000"/>
                </a:solidFill>
              </a:rPr>
              <a:t>The big idea behind MobileNet is that convolutional layers, which are expensive to compute be replaced by so-called depthwise separable convolutions.</a:t>
            </a:r>
            <a:endParaRPr sz="2800">
              <a:solidFill>
                <a:srgbClr val="000000"/>
              </a:solidFill>
            </a:endParaRPr>
          </a:p>
          <a:p>
            <a:pPr indent="0" lvl="0" marL="0" rtl="0" algn="l">
              <a:lnSpc>
                <a:spcPct val="115000"/>
              </a:lnSpc>
              <a:spcBef>
                <a:spcPts val="0"/>
              </a:spcBef>
              <a:spcAft>
                <a:spcPts val="0"/>
              </a:spcAft>
              <a:buNone/>
            </a:pPr>
            <a:r>
              <a:t/>
            </a:r>
            <a:endParaRPr sz="2800">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5"/>
          <p:cNvSpPr txBox="1"/>
          <p:nvPr>
            <p:ph type="title"/>
          </p:nvPr>
        </p:nvSpPr>
        <p:spPr>
          <a:xfrm>
            <a:off x="267925" y="838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MobileNet Idea</a:t>
            </a:r>
            <a:endParaRPr>
              <a:solidFill>
                <a:schemeClr val="lt1"/>
              </a:solidFill>
            </a:endParaRPr>
          </a:p>
        </p:txBody>
      </p:sp>
      <p:sp>
        <p:nvSpPr>
          <p:cNvPr id="492" name="Google Shape;492;p85"/>
          <p:cNvSpPr txBox="1"/>
          <p:nvPr>
            <p:ph idx="1" type="body"/>
          </p:nvPr>
        </p:nvSpPr>
        <p:spPr>
          <a:xfrm>
            <a:off x="267925" y="3727200"/>
            <a:ext cx="8520600" cy="1416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a:solidFill>
                  <a:srgbClr val="000000"/>
                </a:solidFill>
              </a:rPr>
              <a:t>The job of the convolution layer is split into two subtasks:</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Depthwise and pointwise form a “depthwise separable” </a:t>
            </a:r>
            <a:r>
              <a:rPr lang="en">
                <a:solidFill>
                  <a:srgbClr val="000000"/>
                </a:solidFill>
              </a:rPr>
              <a:t>convolution </a:t>
            </a:r>
            <a:r>
              <a:rPr lang="en">
                <a:solidFill>
                  <a:srgbClr val="000000"/>
                </a:solidFill>
              </a:rPr>
              <a:t>block</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Depthwise separable block </a:t>
            </a:r>
            <a:r>
              <a:rPr lang="en">
                <a:solidFill>
                  <a:srgbClr val="000000"/>
                </a:solidFill>
              </a:rPr>
              <a:t>does the same as traditional </a:t>
            </a:r>
            <a:r>
              <a:rPr lang="en">
                <a:solidFill>
                  <a:srgbClr val="000000"/>
                </a:solidFill>
              </a:rPr>
              <a:t>convolution </a:t>
            </a:r>
            <a:r>
              <a:rPr lang="en">
                <a:solidFill>
                  <a:srgbClr val="000000"/>
                </a:solidFill>
              </a:rPr>
              <a:t>but faster.</a:t>
            </a:r>
            <a:endParaRPr/>
          </a:p>
        </p:txBody>
      </p:sp>
      <p:pic>
        <p:nvPicPr>
          <p:cNvPr id="493" name="Google Shape;493;p85"/>
          <p:cNvPicPr preferRelativeResize="0"/>
          <p:nvPr/>
        </p:nvPicPr>
        <p:blipFill>
          <a:blip r:embed="rId3">
            <a:alphaModFix/>
          </a:blip>
          <a:stretch>
            <a:fillRect/>
          </a:stretch>
        </p:blipFill>
        <p:spPr>
          <a:xfrm>
            <a:off x="61275" y="708375"/>
            <a:ext cx="8933898" cy="29670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6"/>
          <p:cNvSpPr txBox="1"/>
          <p:nvPr>
            <p:ph type="title"/>
          </p:nvPr>
        </p:nvSpPr>
        <p:spPr>
          <a:xfrm>
            <a:off x="311700" y="204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Normal Convolution</a:t>
            </a:r>
            <a:endParaRPr/>
          </a:p>
        </p:txBody>
      </p:sp>
      <p:sp>
        <p:nvSpPr>
          <p:cNvPr id="499" name="Google Shape;499;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00" name="Google Shape;500;p86"/>
          <p:cNvPicPr preferRelativeResize="0"/>
          <p:nvPr/>
        </p:nvPicPr>
        <p:blipFill>
          <a:blip r:embed="rId3">
            <a:alphaModFix/>
          </a:blip>
          <a:stretch>
            <a:fillRect/>
          </a:stretch>
        </p:blipFill>
        <p:spPr>
          <a:xfrm>
            <a:off x="152400" y="839538"/>
            <a:ext cx="9144000" cy="37692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87"/>
          <p:cNvSpPr txBox="1"/>
          <p:nvPr>
            <p:ph type="title"/>
          </p:nvPr>
        </p:nvSpPr>
        <p:spPr>
          <a:xfrm>
            <a:off x="311700" y="20427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Depthwise Separable Convolution</a:t>
            </a:r>
            <a:endParaRPr/>
          </a:p>
        </p:txBody>
      </p:sp>
      <p:sp>
        <p:nvSpPr>
          <p:cNvPr id="506" name="Google Shape;506;p8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07" name="Google Shape;507;p87"/>
          <p:cNvPicPr preferRelativeResize="0"/>
          <p:nvPr/>
        </p:nvPicPr>
        <p:blipFill>
          <a:blip r:embed="rId3">
            <a:alphaModFix/>
          </a:blip>
          <a:stretch>
            <a:fillRect/>
          </a:stretch>
        </p:blipFill>
        <p:spPr>
          <a:xfrm>
            <a:off x="152400" y="712470"/>
            <a:ext cx="9144000" cy="402336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8"/>
          <p:cNvSpPr txBox="1"/>
          <p:nvPr>
            <p:ph type="title"/>
          </p:nvPr>
        </p:nvSpPr>
        <p:spPr>
          <a:xfrm>
            <a:off x="311700" y="445025"/>
            <a:ext cx="8520600" cy="657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Depthwise Convolution</a:t>
            </a:r>
            <a:endParaRPr/>
          </a:p>
        </p:txBody>
      </p:sp>
      <p:sp>
        <p:nvSpPr>
          <p:cNvPr id="513" name="Google Shape;513;p8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14" name="Google Shape;514;p88"/>
          <p:cNvPicPr preferRelativeResize="0"/>
          <p:nvPr/>
        </p:nvPicPr>
        <p:blipFill>
          <a:blip r:embed="rId3">
            <a:alphaModFix/>
          </a:blip>
          <a:stretch>
            <a:fillRect/>
          </a:stretch>
        </p:blipFill>
        <p:spPr>
          <a:xfrm>
            <a:off x="0" y="962935"/>
            <a:ext cx="9144000" cy="379548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89"/>
          <p:cNvSpPr txBox="1"/>
          <p:nvPr>
            <p:ph type="title"/>
          </p:nvPr>
        </p:nvSpPr>
        <p:spPr>
          <a:xfrm>
            <a:off x="311700" y="445025"/>
            <a:ext cx="8520600" cy="657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Pointwise </a:t>
            </a:r>
            <a:r>
              <a:rPr lang="en">
                <a:solidFill>
                  <a:schemeClr val="lt1"/>
                </a:solidFill>
              </a:rPr>
              <a:t>Convolution</a:t>
            </a:r>
            <a:endParaRPr/>
          </a:p>
        </p:txBody>
      </p:sp>
      <p:sp>
        <p:nvSpPr>
          <p:cNvPr id="520" name="Google Shape;520;p8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21" name="Google Shape;521;p89"/>
          <p:cNvPicPr preferRelativeResize="0"/>
          <p:nvPr/>
        </p:nvPicPr>
        <p:blipFill>
          <a:blip r:embed="rId3">
            <a:alphaModFix/>
          </a:blip>
          <a:stretch>
            <a:fillRect/>
          </a:stretch>
        </p:blipFill>
        <p:spPr>
          <a:xfrm>
            <a:off x="0" y="994633"/>
            <a:ext cx="9143999" cy="373208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0"/>
          <p:cNvSpPr txBox="1"/>
          <p:nvPr>
            <p:ph type="title"/>
          </p:nvPr>
        </p:nvSpPr>
        <p:spPr>
          <a:xfrm>
            <a:off x="311700" y="445025"/>
            <a:ext cx="8520600" cy="657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Cost Of Computation Summary</a:t>
            </a:r>
            <a:endParaRPr/>
          </a:p>
        </p:txBody>
      </p:sp>
      <p:sp>
        <p:nvSpPr>
          <p:cNvPr id="527" name="Google Shape;527;p9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00"/>
              </a:spcBef>
              <a:spcAft>
                <a:spcPts val="0"/>
              </a:spcAft>
              <a:buClr>
                <a:srgbClr val="000000"/>
              </a:buClr>
              <a:buSzPts val="1800"/>
              <a:buChar char="●"/>
            </a:pPr>
            <a:r>
              <a:rPr lang="en">
                <a:solidFill>
                  <a:srgbClr val="000000"/>
                </a:solidFill>
              </a:rPr>
              <a:t>Cost of normal convolution -  2160</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Cost of depthwise separable convolution =  432 (depth) +  240 (point) = 672</a:t>
            </a:r>
            <a:endParaRPr>
              <a:solidFill>
                <a:srgbClr val="000000"/>
              </a:solidFill>
            </a:endParaRPr>
          </a:p>
          <a:p>
            <a:pPr indent="0" lvl="0" marL="0" rtl="0" algn="l">
              <a:spcBef>
                <a:spcPts val="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333333"/>
                </a:solidFill>
              </a:rPr>
              <a:t>MobileNet V1 Architecture</a:t>
            </a:r>
            <a:endParaRPr>
              <a:solidFill>
                <a:srgbClr val="333333"/>
              </a:solidFill>
            </a:endParaRPr>
          </a:p>
        </p:txBody>
      </p:sp>
      <p:sp>
        <p:nvSpPr>
          <p:cNvPr id="533" name="Google Shape;533;p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400"/>
              </a:spcBef>
              <a:spcAft>
                <a:spcPts val="0"/>
              </a:spcAft>
              <a:buClr>
                <a:srgbClr val="000000"/>
              </a:buClr>
              <a:buSzPts val="1800"/>
              <a:buChar char="●"/>
            </a:pPr>
            <a:r>
              <a:rPr lang="en">
                <a:solidFill>
                  <a:srgbClr val="000000"/>
                </a:solidFill>
              </a:rPr>
              <a:t>MobileNet architecture has 13 times “depthwise separable” convolution block</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There are no pooling layers instead a stride of 2 is used</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When that happens, we doubles the number of output channels.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Input image: 224×224×3 -&gt; Output: 7×7×1024</a:t>
            </a:r>
            <a:endParaRPr sz="1150">
              <a:solidFill>
                <a:srgbClr val="000000"/>
              </a:solidFill>
              <a:highlight>
                <a:srgbClr val="FFFFFF"/>
              </a:highlight>
              <a:latin typeface="Roboto"/>
              <a:ea typeface="Roboto"/>
              <a:cs typeface="Roboto"/>
              <a:sym typeface="Roboto"/>
            </a:endParaRPr>
          </a:p>
          <a:p>
            <a:pPr indent="0" lvl="0" marL="0" rtl="0" algn="l">
              <a:spcBef>
                <a:spcPts val="1400"/>
              </a:spcBef>
              <a:spcAft>
                <a:spcPts val="120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333333"/>
                </a:solidFill>
              </a:rPr>
              <a:t>MobileNet Architecture V1 and V2</a:t>
            </a:r>
            <a:endParaRPr>
              <a:solidFill>
                <a:srgbClr val="333333"/>
              </a:solidFill>
            </a:endParaRPr>
          </a:p>
        </p:txBody>
      </p:sp>
      <p:pic>
        <p:nvPicPr>
          <p:cNvPr id="539" name="Google Shape;539;p92"/>
          <p:cNvPicPr preferRelativeResize="0"/>
          <p:nvPr/>
        </p:nvPicPr>
        <p:blipFill>
          <a:blip r:embed="rId3">
            <a:alphaModFix/>
          </a:blip>
          <a:stretch>
            <a:fillRect/>
          </a:stretch>
        </p:blipFill>
        <p:spPr>
          <a:xfrm>
            <a:off x="152400" y="1170125"/>
            <a:ext cx="8414652" cy="38209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93"/>
          <p:cNvSpPr txBox="1"/>
          <p:nvPr>
            <p:ph type="title"/>
          </p:nvPr>
        </p:nvSpPr>
        <p:spPr>
          <a:xfrm>
            <a:off x="311700" y="555600"/>
            <a:ext cx="74952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333333"/>
                </a:solidFill>
              </a:rPr>
              <a:t>MobileNet Architecture V2</a:t>
            </a:r>
            <a:endParaRPr>
              <a:solidFill>
                <a:srgbClr val="333333"/>
              </a:solidFill>
            </a:endParaRPr>
          </a:p>
        </p:txBody>
      </p:sp>
      <p:sp>
        <p:nvSpPr>
          <p:cNvPr id="545" name="Google Shape;545;p93"/>
          <p:cNvSpPr txBox="1"/>
          <p:nvPr>
            <p:ph idx="1" type="body"/>
          </p:nvPr>
        </p:nvSpPr>
        <p:spPr>
          <a:xfrm>
            <a:off x="311700" y="1389600"/>
            <a:ext cx="7943700" cy="195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000"/>
              </a:buClr>
              <a:buSzPts val="1800"/>
              <a:buChar char="●"/>
            </a:pPr>
            <a:r>
              <a:rPr lang="en" sz="1800">
                <a:solidFill>
                  <a:srgbClr val="000000"/>
                </a:solidFill>
              </a:rPr>
              <a:t>The expansion layer acts as a decompressor of the data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Depthwise layer performs the filtering at this stage of the network</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The projection layer compresses the data to make it small again.</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The second new thing in MobileNet V2’s building block is the residual connection. </a:t>
            </a:r>
            <a:endParaRPr sz="1800">
              <a:solidFill>
                <a:srgbClr val="000000"/>
              </a:solidFill>
            </a:endParaRPr>
          </a:p>
        </p:txBody>
      </p:sp>
      <p:pic>
        <p:nvPicPr>
          <p:cNvPr id="546" name="Google Shape;546;p93"/>
          <p:cNvPicPr preferRelativeResize="0"/>
          <p:nvPr/>
        </p:nvPicPr>
        <p:blipFill>
          <a:blip r:embed="rId3">
            <a:alphaModFix/>
          </a:blip>
          <a:stretch>
            <a:fillRect/>
          </a:stretch>
        </p:blipFill>
        <p:spPr>
          <a:xfrm>
            <a:off x="594900" y="3158750"/>
            <a:ext cx="7595801" cy="18606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94"/>
          <p:cNvSpPr txBox="1"/>
          <p:nvPr>
            <p:ph type="title"/>
          </p:nvPr>
        </p:nvSpPr>
        <p:spPr>
          <a:xfrm>
            <a:off x="311700" y="555600"/>
            <a:ext cx="7495200" cy="755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333333"/>
                </a:solidFill>
              </a:rPr>
              <a:t>MobileNet Architecture V2</a:t>
            </a:r>
            <a:endParaRPr>
              <a:solidFill>
                <a:srgbClr val="333333"/>
              </a:solidFill>
            </a:endParaRPr>
          </a:p>
        </p:txBody>
      </p:sp>
      <p:sp>
        <p:nvSpPr>
          <p:cNvPr id="552" name="Google Shape;552;p94"/>
          <p:cNvSpPr txBox="1"/>
          <p:nvPr>
            <p:ph idx="1" type="body"/>
          </p:nvPr>
        </p:nvSpPr>
        <p:spPr>
          <a:xfrm>
            <a:off x="311700" y="1389600"/>
            <a:ext cx="7943700" cy="1956000"/>
          </a:xfrm>
          <a:prstGeom prst="rect">
            <a:avLst/>
          </a:prstGeom>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Clr>
                <a:srgbClr val="000000"/>
              </a:buClr>
              <a:buSzPts val="1800"/>
              <a:buChar char="●"/>
            </a:pPr>
            <a:r>
              <a:rPr lang="en" sz="1800">
                <a:solidFill>
                  <a:srgbClr val="000000"/>
                </a:solidFill>
              </a:rPr>
              <a:t>The full MobileNet V2 architecture consists of 17 blocks in a row. </a:t>
            </a:r>
            <a:endParaRPr sz="1800">
              <a:solidFill>
                <a:srgbClr val="000000"/>
              </a:solidFill>
            </a:endParaRPr>
          </a:p>
          <a:p>
            <a:pPr indent="-342900" lvl="0" marL="457200" marR="0" rtl="0" algn="l">
              <a:lnSpc>
                <a:spcPct val="115000"/>
              </a:lnSpc>
              <a:spcBef>
                <a:spcPts val="0"/>
              </a:spcBef>
              <a:spcAft>
                <a:spcPts val="0"/>
              </a:spcAft>
              <a:buClr>
                <a:srgbClr val="000000"/>
              </a:buClr>
              <a:buSzPts val="1800"/>
              <a:buChar char="●"/>
            </a:pPr>
            <a:r>
              <a:rPr lang="en" sz="1800">
                <a:solidFill>
                  <a:srgbClr val="000000"/>
                </a:solidFill>
              </a:rPr>
              <a:t>This is followed by a regular 1×1 convolution, a global average pooling layer, and a classification layer.</a:t>
            </a:r>
            <a:endParaRPr sz="1800">
              <a:solidFill>
                <a:srgbClr val="0000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9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EfficientNet</a:t>
            </a:r>
            <a:endParaRPr>
              <a:solidFill>
                <a:schemeClr val="l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EfficientNet Main Idea</a:t>
            </a:r>
            <a:endParaRPr>
              <a:solidFill>
                <a:schemeClr val="lt1"/>
              </a:solidFill>
            </a:endParaRPr>
          </a:p>
        </p:txBody>
      </p:sp>
      <p:sp>
        <p:nvSpPr>
          <p:cNvPr id="563" name="Google Shape;563;p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lang="en">
                <a:solidFill>
                  <a:schemeClr val="lt1"/>
                </a:solidFill>
              </a:rPr>
              <a:t>Developed in 2019</a:t>
            </a:r>
            <a:endParaRPr>
              <a:solidFill>
                <a:schemeClr val="lt1"/>
              </a:solidFill>
            </a:endParaRPr>
          </a:p>
          <a:p>
            <a:pPr indent="-342900" lvl="0" marL="457200" rtl="0" algn="l">
              <a:spcBef>
                <a:spcPts val="0"/>
              </a:spcBef>
              <a:spcAft>
                <a:spcPts val="0"/>
              </a:spcAft>
              <a:buClr>
                <a:schemeClr val="lt1"/>
              </a:buClr>
              <a:buSzPts val="1800"/>
              <a:buChar char="●"/>
            </a:pPr>
            <a:r>
              <a:rPr b="1" lang="en">
                <a:solidFill>
                  <a:schemeClr val="lt1"/>
                </a:solidFill>
              </a:rPr>
              <a:t>Compound scaling</a:t>
            </a:r>
            <a:r>
              <a:rPr lang="en">
                <a:solidFill>
                  <a:schemeClr val="lt1"/>
                </a:solidFill>
              </a:rPr>
              <a:t> - </a:t>
            </a:r>
            <a:r>
              <a:rPr lang="en">
                <a:solidFill>
                  <a:schemeClr val="lt1"/>
                </a:solidFill>
              </a:rPr>
              <a:t>uniformly</a:t>
            </a:r>
            <a:r>
              <a:rPr lang="en">
                <a:solidFill>
                  <a:schemeClr val="lt1"/>
                </a:solidFill>
              </a:rPr>
              <a:t> scale all dimensions </a:t>
            </a:r>
            <a:r>
              <a:rPr lang="en">
                <a:solidFill>
                  <a:schemeClr val="lt1"/>
                </a:solidFill>
              </a:rPr>
              <a:t>using a compound coefficient</a:t>
            </a:r>
            <a:r>
              <a:rPr lang="en">
                <a:solidFill>
                  <a:schemeClr val="lt1"/>
                </a:solidFill>
              </a:rPr>
              <a:t>.</a:t>
            </a:r>
            <a:endParaRPr>
              <a:solidFill>
                <a:schemeClr val="lt1"/>
              </a:solidFill>
            </a:endParaRPr>
          </a:p>
          <a:p>
            <a:pPr indent="-342900" lvl="0" marL="457200" rtl="0" algn="l">
              <a:spcBef>
                <a:spcPts val="0"/>
              </a:spcBef>
              <a:spcAft>
                <a:spcPts val="0"/>
              </a:spcAft>
              <a:buClr>
                <a:schemeClr val="lt1"/>
              </a:buClr>
              <a:buSzPts val="1800"/>
              <a:buChar char="●"/>
            </a:pPr>
            <a:r>
              <a:rPr b="1" lang="en">
                <a:solidFill>
                  <a:schemeClr val="lt1"/>
                </a:solidFill>
              </a:rPr>
              <a:t>Depth </a:t>
            </a:r>
            <a:r>
              <a:rPr lang="en">
                <a:solidFill>
                  <a:schemeClr val="lt1"/>
                </a:solidFill>
              </a:rPr>
              <a:t>- number of layers</a:t>
            </a:r>
            <a:endParaRPr>
              <a:solidFill>
                <a:schemeClr val="lt1"/>
              </a:solidFill>
            </a:endParaRPr>
          </a:p>
          <a:p>
            <a:pPr indent="-342900" lvl="0" marL="457200" rtl="0" algn="l">
              <a:spcBef>
                <a:spcPts val="0"/>
              </a:spcBef>
              <a:spcAft>
                <a:spcPts val="0"/>
              </a:spcAft>
              <a:buClr>
                <a:schemeClr val="lt1"/>
              </a:buClr>
              <a:buSzPts val="1800"/>
              <a:buChar char="●"/>
            </a:pPr>
            <a:r>
              <a:rPr b="1" lang="en">
                <a:solidFill>
                  <a:schemeClr val="lt1"/>
                </a:solidFill>
              </a:rPr>
              <a:t>Width </a:t>
            </a:r>
            <a:r>
              <a:rPr lang="en">
                <a:solidFill>
                  <a:schemeClr val="lt1"/>
                </a:solidFill>
              </a:rPr>
              <a:t> - the number of channels </a:t>
            </a:r>
            <a:endParaRPr>
              <a:solidFill>
                <a:schemeClr val="lt1"/>
              </a:solidFill>
            </a:endParaRPr>
          </a:p>
          <a:p>
            <a:pPr indent="-342900" lvl="0" marL="457200" rtl="0" algn="l">
              <a:spcBef>
                <a:spcPts val="0"/>
              </a:spcBef>
              <a:spcAft>
                <a:spcPts val="0"/>
              </a:spcAft>
              <a:buClr>
                <a:schemeClr val="lt1"/>
              </a:buClr>
              <a:buSzPts val="1800"/>
              <a:buChar char="●"/>
            </a:pPr>
            <a:r>
              <a:rPr b="1" lang="en">
                <a:solidFill>
                  <a:schemeClr val="lt1"/>
                </a:solidFill>
              </a:rPr>
              <a:t>Resolution </a:t>
            </a:r>
            <a:r>
              <a:rPr lang="en">
                <a:solidFill>
                  <a:schemeClr val="lt1"/>
                </a:solidFill>
              </a:rPr>
              <a:t>- width and length of the input to each layer</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For big</a:t>
            </a:r>
            <a:r>
              <a:rPr lang="en">
                <a:solidFill>
                  <a:schemeClr val="lt1"/>
                </a:solidFill>
              </a:rPr>
              <a:t> images the network needs more layers to increase the receptive field and more channels to capture more fine-grained patterns.</a:t>
            </a:r>
            <a:endParaRPr>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Scaling Network Dimensions</a:t>
            </a:r>
            <a:endParaRPr>
              <a:solidFill>
                <a:schemeClr val="lt1"/>
              </a:solidFill>
            </a:endParaRPr>
          </a:p>
        </p:txBody>
      </p:sp>
      <p:sp>
        <p:nvSpPr>
          <p:cNvPr id="569" name="Google Shape;569;p9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70" name="Google Shape;570;p97"/>
          <p:cNvPicPr preferRelativeResize="0"/>
          <p:nvPr/>
        </p:nvPicPr>
        <p:blipFill>
          <a:blip r:embed="rId3">
            <a:alphaModFix/>
          </a:blip>
          <a:stretch>
            <a:fillRect/>
          </a:stretch>
        </p:blipFill>
        <p:spPr>
          <a:xfrm>
            <a:off x="0" y="1152475"/>
            <a:ext cx="9144000" cy="3302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EfficientNet Main Additional Improvements</a:t>
            </a:r>
            <a:endParaRPr>
              <a:solidFill>
                <a:schemeClr val="lt1"/>
              </a:solidFill>
            </a:endParaRPr>
          </a:p>
        </p:txBody>
      </p:sp>
      <p:sp>
        <p:nvSpPr>
          <p:cNvPr id="576" name="Google Shape;576;p9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b="1" lang="en">
                <a:solidFill>
                  <a:schemeClr val="lt1"/>
                </a:solidFill>
              </a:rPr>
              <a:t>Architecture Search</a:t>
            </a:r>
            <a:r>
              <a:rPr lang="en" sz="1200">
                <a:solidFill>
                  <a:srgbClr val="374151"/>
                </a:solidFill>
                <a:highlight>
                  <a:srgbClr val="F7F7F8"/>
                </a:highlight>
                <a:latin typeface="Roboto"/>
                <a:ea typeface="Roboto"/>
                <a:cs typeface="Roboto"/>
                <a:sym typeface="Roboto"/>
              </a:rPr>
              <a:t> - </a:t>
            </a:r>
            <a:r>
              <a:rPr lang="en">
                <a:solidFill>
                  <a:schemeClr val="lt1"/>
                </a:solidFill>
              </a:rPr>
              <a:t>a process that automatically searches for the best neural network architecture for a given task.</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The compound scaling method is justified by </a:t>
            </a:r>
            <a:r>
              <a:rPr b="1" lang="en">
                <a:solidFill>
                  <a:schemeClr val="lt1"/>
                </a:solidFill>
              </a:rPr>
              <a:t>Efficient Blocks:</a:t>
            </a:r>
            <a:r>
              <a:rPr lang="en">
                <a:solidFill>
                  <a:schemeClr val="lt1"/>
                </a:solidFill>
              </a:rPr>
              <a:t> based on the inverted bottleneck residual blocks of </a:t>
            </a:r>
            <a:r>
              <a:rPr lang="en">
                <a:solidFill>
                  <a:schemeClr val="lt1"/>
                </a:solidFill>
                <a:uFill>
                  <a:noFill/>
                </a:uFill>
                <a:hlinkClick r:id="rId3">
                  <a:extLst>
                    <a:ext uri="{A12FA001-AC4F-418D-AE19-62706E023703}">
                      <ahyp:hlinkClr val="tx"/>
                    </a:ext>
                  </a:extLst>
                </a:hlinkClick>
              </a:rPr>
              <a:t>MobileNetV2</a:t>
            </a:r>
            <a:endParaRPr b="1">
              <a:solidFill>
                <a:schemeClr val="lt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dk2"/>
                </a:solidFill>
              </a:rPr>
              <a:t>Compound Scaling</a:t>
            </a:r>
            <a:endParaRPr>
              <a:solidFill>
                <a:schemeClr val="dk2"/>
              </a:solidFill>
            </a:endParaRPr>
          </a:p>
        </p:txBody>
      </p:sp>
      <p:sp>
        <p:nvSpPr>
          <p:cNvPr id="582" name="Google Shape;582;p99"/>
          <p:cNvSpPr txBox="1"/>
          <p:nvPr>
            <p:ph idx="1" type="body"/>
          </p:nvPr>
        </p:nvSpPr>
        <p:spPr>
          <a:xfrm>
            <a:off x="4392325" y="1152475"/>
            <a:ext cx="44397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Char char="●"/>
            </a:pPr>
            <a:r>
              <a:rPr b="1" lang="en">
                <a:solidFill>
                  <a:schemeClr val="lt1"/>
                </a:solidFill>
              </a:rPr>
              <a:t>α, β,</a:t>
            </a:r>
            <a:r>
              <a:rPr lang="en">
                <a:solidFill>
                  <a:schemeClr val="lt1"/>
                </a:solidFill>
              </a:rPr>
              <a:t> and </a:t>
            </a:r>
            <a:r>
              <a:rPr b="1" lang="en">
                <a:solidFill>
                  <a:schemeClr val="lt1"/>
                </a:solidFill>
              </a:rPr>
              <a:t>γ </a:t>
            </a:r>
            <a:r>
              <a:rPr lang="en">
                <a:solidFill>
                  <a:schemeClr val="lt1"/>
                </a:solidFill>
              </a:rPr>
              <a:t>are network’s depth, width, and resolution</a:t>
            </a:r>
            <a:endParaRPr>
              <a:solidFill>
                <a:schemeClr val="lt1"/>
              </a:solidFill>
            </a:endParaRPr>
          </a:p>
          <a:p>
            <a:pPr indent="-342900" lvl="0" marL="457200" rtl="0" algn="l">
              <a:spcBef>
                <a:spcPts val="0"/>
              </a:spcBef>
              <a:spcAft>
                <a:spcPts val="0"/>
              </a:spcAft>
              <a:buClr>
                <a:schemeClr val="lt1"/>
              </a:buClr>
              <a:buSzPts val="1800"/>
              <a:buChar char="●"/>
            </a:pPr>
            <a:r>
              <a:rPr b="1" lang="en">
                <a:solidFill>
                  <a:schemeClr val="lt1"/>
                </a:solidFill>
              </a:rPr>
              <a:t>α, β,</a:t>
            </a:r>
            <a:r>
              <a:rPr lang="en">
                <a:solidFill>
                  <a:schemeClr val="lt1"/>
                </a:solidFill>
              </a:rPr>
              <a:t> and </a:t>
            </a:r>
            <a:r>
              <a:rPr b="1" lang="en">
                <a:solidFill>
                  <a:schemeClr val="lt1"/>
                </a:solidFill>
              </a:rPr>
              <a:t>γ</a:t>
            </a:r>
            <a:r>
              <a:rPr lang="en">
                <a:solidFill>
                  <a:schemeClr val="lt1"/>
                </a:solidFill>
              </a:rPr>
              <a:t> are determined using grid search with ɸ=1</a:t>
            </a:r>
            <a:r>
              <a:rPr b="1" lang="en" sz="1500">
                <a:solidFill>
                  <a:srgbClr val="292929"/>
                </a:solidFill>
                <a:highlight>
                  <a:srgbClr val="FFFFFF"/>
                </a:highlight>
                <a:latin typeface="Georgia"/>
                <a:ea typeface="Georgia"/>
                <a:cs typeface="Georgia"/>
                <a:sym typeface="Georgia"/>
              </a:rPr>
              <a:t> (AutoML)</a:t>
            </a:r>
            <a:endParaRPr b="1" sz="1500">
              <a:solidFill>
                <a:srgbClr val="292929"/>
              </a:solidFill>
              <a:highlight>
                <a:srgbClr val="FFFFFF"/>
              </a:highlight>
              <a:latin typeface="Georgia"/>
              <a:ea typeface="Georgia"/>
              <a:cs typeface="Georgia"/>
              <a:sym typeface="Georgia"/>
            </a:endParaRPr>
          </a:p>
          <a:p>
            <a:pPr indent="-342900" lvl="0" marL="457200" rtl="0" algn="l">
              <a:spcBef>
                <a:spcPts val="0"/>
              </a:spcBef>
              <a:spcAft>
                <a:spcPts val="0"/>
              </a:spcAft>
              <a:buClr>
                <a:srgbClr val="292929"/>
              </a:buClr>
              <a:buSzPts val="1800"/>
              <a:buFont typeface="Georgia"/>
              <a:buChar char="●"/>
            </a:pPr>
            <a:r>
              <a:rPr lang="en">
                <a:solidFill>
                  <a:schemeClr val="lt1"/>
                </a:solidFill>
              </a:rPr>
              <a:t>Then the compound coefficient ɸ can be increased to get larger models</a:t>
            </a:r>
            <a:endParaRPr b="1" sz="1500">
              <a:solidFill>
                <a:srgbClr val="292929"/>
              </a:solidFill>
              <a:highlight>
                <a:srgbClr val="FFFFFF"/>
              </a:highlight>
              <a:latin typeface="Georgia"/>
              <a:ea typeface="Georgia"/>
              <a:cs typeface="Georgia"/>
              <a:sym typeface="Georgia"/>
            </a:endParaRPr>
          </a:p>
          <a:p>
            <a:pPr indent="-342900" lvl="0" marL="457200" rtl="0" algn="l">
              <a:spcBef>
                <a:spcPts val="0"/>
              </a:spcBef>
              <a:spcAft>
                <a:spcPts val="0"/>
              </a:spcAft>
              <a:buClr>
                <a:srgbClr val="292929"/>
              </a:buClr>
              <a:buSzPts val="1800"/>
              <a:buFont typeface="Georgia"/>
              <a:buChar char="●"/>
            </a:pPr>
            <a:r>
              <a:rPr b="1" lang="en">
                <a:solidFill>
                  <a:schemeClr val="lt1"/>
                </a:solidFill>
              </a:rPr>
              <a:t>ɸ</a:t>
            </a:r>
            <a:r>
              <a:rPr lang="en">
                <a:solidFill>
                  <a:schemeClr val="lt1"/>
                </a:solidFill>
              </a:rPr>
              <a:t> is a user-defined, global scaling factor that controls how many resources are available</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This was how EfficientNet-B1 to EfficientNet-B7 are constructed </a:t>
            </a:r>
            <a:endParaRPr>
              <a:solidFill>
                <a:schemeClr val="lt1"/>
              </a:solidFill>
            </a:endParaRPr>
          </a:p>
        </p:txBody>
      </p:sp>
      <p:pic>
        <p:nvPicPr>
          <p:cNvPr id="583" name="Google Shape;583;p99"/>
          <p:cNvPicPr preferRelativeResize="0"/>
          <p:nvPr/>
        </p:nvPicPr>
        <p:blipFill>
          <a:blip r:embed="rId3">
            <a:alphaModFix/>
          </a:blip>
          <a:stretch>
            <a:fillRect/>
          </a:stretch>
        </p:blipFill>
        <p:spPr>
          <a:xfrm>
            <a:off x="180374" y="1108700"/>
            <a:ext cx="4157225" cy="25241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EfficientNet Performance</a:t>
            </a:r>
            <a:endParaRPr>
              <a:solidFill>
                <a:schemeClr val="lt1"/>
              </a:solidFill>
            </a:endParaRPr>
          </a:p>
        </p:txBody>
      </p:sp>
      <p:pic>
        <p:nvPicPr>
          <p:cNvPr id="589" name="Google Shape;589;p100"/>
          <p:cNvPicPr preferRelativeResize="0"/>
          <p:nvPr/>
        </p:nvPicPr>
        <p:blipFill>
          <a:blip r:embed="rId3">
            <a:alphaModFix/>
          </a:blip>
          <a:stretch>
            <a:fillRect/>
          </a:stretch>
        </p:blipFill>
        <p:spPr>
          <a:xfrm>
            <a:off x="1608950" y="1211675"/>
            <a:ext cx="5926100" cy="38614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Modules in EfficientNet</a:t>
            </a:r>
            <a:endParaRPr>
              <a:solidFill>
                <a:schemeClr val="lt1"/>
              </a:solidFill>
            </a:endParaRPr>
          </a:p>
        </p:txBody>
      </p:sp>
      <p:sp>
        <p:nvSpPr>
          <p:cNvPr id="595" name="Google Shape;595;p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596" name="Google Shape;596;p101"/>
          <p:cNvPicPr preferRelativeResize="0"/>
          <p:nvPr/>
        </p:nvPicPr>
        <p:blipFill>
          <a:blip r:embed="rId3">
            <a:alphaModFix/>
          </a:blip>
          <a:stretch>
            <a:fillRect/>
          </a:stretch>
        </p:blipFill>
        <p:spPr>
          <a:xfrm>
            <a:off x="638175" y="938200"/>
            <a:ext cx="7867650" cy="32670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0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EfficientNet B0 Architecture</a:t>
            </a:r>
            <a:endParaRPr>
              <a:solidFill>
                <a:schemeClr val="lt1"/>
              </a:solidFill>
            </a:endParaRPr>
          </a:p>
        </p:txBody>
      </p:sp>
      <p:pic>
        <p:nvPicPr>
          <p:cNvPr id="602" name="Google Shape;602;p102"/>
          <p:cNvPicPr preferRelativeResize="0"/>
          <p:nvPr/>
        </p:nvPicPr>
        <p:blipFill>
          <a:blip r:embed="rId3">
            <a:alphaModFix/>
          </a:blip>
          <a:stretch>
            <a:fillRect/>
          </a:stretch>
        </p:blipFill>
        <p:spPr>
          <a:xfrm>
            <a:off x="152400" y="1304825"/>
            <a:ext cx="8839197" cy="36493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03"/>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EfficientNet B7 Architecture</a:t>
            </a:r>
            <a:endParaRPr>
              <a:solidFill>
                <a:schemeClr val="lt1"/>
              </a:solidFill>
            </a:endParaRPr>
          </a:p>
        </p:txBody>
      </p:sp>
      <p:pic>
        <p:nvPicPr>
          <p:cNvPr id="608" name="Google Shape;608;p103"/>
          <p:cNvPicPr preferRelativeResize="0"/>
          <p:nvPr/>
        </p:nvPicPr>
        <p:blipFill>
          <a:blip r:embed="rId3">
            <a:alphaModFix/>
          </a:blip>
          <a:stretch>
            <a:fillRect/>
          </a:stretch>
        </p:blipFill>
        <p:spPr>
          <a:xfrm>
            <a:off x="152400" y="1304825"/>
            <a:ext cx="8839197" cy="365564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dk2"/>
                </a:solidFill>
              </a:rPr>
              <a:t>History of Model Performance Top 5 Error Rate</a:t>
            </a:r>
            <a:endParaRPr>
              <a:solidFill>
                <a:schemeClr val="dk2"/>
              </a:solidFill>
            </a:endParaRPr>
          </a:p>
        </p:txBody>
      </p:sp>
      <p:sp>
        <p:nvSpPr>
          <p:cNvPr id="614" name="Google Shape;614;p104"/>
          <p:cNvSpPr txBox="1"/>
          <p:nvPr>
            <p:ph idx="1" type="body"/>
          </p:nvPr>
        </p:nvSpPr>
        <p:spPr>
          <a:xfrm>
            <a:off x="616500" y="1152475"/>
            <a:ext cx="8215500" cy="3990900"/>
          </a:xfrm>
          <a:prstGeom prst="rect">
            <a:avLst/>
          </a:prstGeom>
        </p:spPr>
        <p:txBody>
          <a:bodyPr anchorCtr="0" anchor="t" bIns="91425" lIns="91425" spcFirstLastPara="1" rIns="91425" wrap="square" tIns="91425">
            <a:noAutofit/>
          </a:bodyPr>
          <a:lstStyle/>
          <a:p>
            <a:pPr indent="-342900" lvl="0" marL="457200" rtl="0" algn="l">
              <a:spcBef>
                <a:spcPts val="15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2010, the best-performing model 28.2%.</a:t>
            </a:r>
            <a:endParaRPr>
              <a:solidFill>
                <a:srgbClr val="374151"/>
              </a:solidFill>
              <a:highlight>
                <a:srgbClr val="F7F7F8"/>
              </a:highlight>
              <a:latin typeface="Roboto"/>
              <a:ea typeface="Roboto"/>
              <a:cs typeface="Roboto"/>
              <a:sym typeface="Roboto"/>
            </a:endParaRPr>
          </a:p>
          <a:p>
            <a:pPr indent="-342900" lvl="0" marL="457200" rtl="0" algn="l">
              <a:spcBef>
                <a:spcPts val="10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2012 AlexNet 15.3%</a:t>
            </a:r>
            <a:endParaRPr>
              <a:solidFill>
                <a:srgbClr val="374151"/>
              </a:solidFill>
              <a:highlight>
                <a:srgbClr val="F7F7F8"/>
              </a:highlight>
              <a:latin typeface="Roboto"/>
              <a:ea typeface="Roboto"/>
              <a:cs typeface="Roboto"/>
              <a:sym typeface="Roboto"/>
            </a:endParaRPr>
          </a:p>
          <a:p>
            <a:pPr indent="-342900" lvl="0" marL="457200" rtl="0" algn="l">
              <a:spcBef>
                <a:spcPts val="10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2014 GoogLeNet (Inception-v1) 6.7%</a:t>
            </a:r>
            <a:endParaRPr>
              <a:solidFill>
                <a:srgbClr val="374151"/>
              </a:solidFill>
              <a:highlight>
                <a:srgbClr val="F7F7F8"/>
              </a:highlight>
              <a:latin typeface="Roboto"/>
              <a:ea typeface="Roboto"/>
              <a:cs typeface="Roboto"/>
              <a:sym typeface="Roboto"/>
            </a:endParaRPr>
          </a:p>
          <a:p>
            <a:pPr indent="-342900" lvl="0" marL="457200" rtl="0" algn="l">
              <a:spcBef>
                <a:spcPts val="10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2015, Inception-v2 4.0%.</a:t>
            </a:r>
            <a:endParaRPr>
              <a:solidFill>
                <a:srgbClr val="374151"/>
              </a:solidFill>
              <a:highlight>
                <a:srgbClr val="F7F7F8"/>
              </a:highlight>
              <a:latin typeface="Roboto"/>
              <a:ea typeface="Roboto"/>
              <a:cs typeface="Roboto"/>
              <a:sym typeface="Roboto"/>
            </a:endParaRPr>
          </a:p>
          <a:p>
            <a:pPr indent="-342900" lvl="0" marL="457200" rtl="0" algn="l">
              <a:spcBef>
                <a:spcPts val="10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2016 ResNet-152 3.0%.</a:t>
            </a:r>
            <a:endParaRPr>
              <a:solidFill>
                <a:srgbClr val="374151"/>
              </a:solidFill>
              <a:highlight>
                <a:srgbClr val="F7F7F8"/>
              </a:highlight>
              <a:latin typeface="Roboto"/>
              <a:ea typeface="Roboto"/>
              <a:cs typeface="Roboto"/>
              <a:sym typeface="Roboto"/>
            </a:endParaRPr>
          </a:p>
          <a:p>
            <a:pPr indent="-342900" lvl="0" marL="457200" rtl="0" algn="l">
              <a:spcBef>
                <a:spcPts val="15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2019 EfficientNet-B7 1.5%.</a:t>
            </a:r>
            <a:endParaRPr>
              <a:solidFill>
                <a:srgbClr val="374151"/>
              </a:solidFill>
              <a:highlight>
                <a:srgbClr val="F7F7F8"/>
              </a:highlight>
              <a:latin typeface="Roboto"/>
              <a:ea typeface="Roboto"/>
              <a:cs typeface="Roboto"/>
              <a:sym typeface="Roboto"/>
            </a:endParaRPr>
          </a:p>
          <a:p>
            <a:pPr indent="-342900" lvl="0" marL="457200" marR="0" rtl="0" algn="l">
              <a:lnSpc>
                <a:spcPct val="115000"/>
              </a:lnSpc>
              <a:spcBef>
                <a:spcPts val="1500"/>
              </a:spcBef>
              <a:spcAft>
                <a:spcPts val="0"/>
              </a:spcAft>
              <a:buClr>
                <a:srgbClr val="374151"/>
              </a:buClr>
              <a:buSzPts val="1800"/>
              <a:buFont typeface="Roboto"/>
              <a:buChar char="●"/>
            </a:pPr>
            <a:r>
              <a:rPr lang="en">
                <a:solidFill>
                  <a:srgbClr val="374151"/>
                </a:solidFill>
                <a:highlight>
                  <a:srgbClr val="F7F7F8"/>
                </a:highlight>
                <a:latin typeface="Roboto"/>
                <a:ea typeface="Roboto"/>
                <a:cs typeface="Roboto"/>
                <a:sym typeface="Roboto"/>
              </a:rPr>
              <a:t>Human 5.1%</a:t>
            </a:r>
            <a:endParaRPr>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t/>
            </a:r>
            <a:endParaRPr>
              <a:solidFill>
                <a:srgbClr val="374151"/>
              </a:solidFill>
              <a:highlight>
                <a:srgbClr val="F7F7F8"/>
              </a:highlight>
              <a:latin typeface="Roboto"/>
              <a:ea typeface="Roboto"/>
              <a:cs typeface="Roboto"/>
              <a:sym typeface="Roboto"/>
            </a:endParaRPr>
          </a:p>
          <a:p>
            <a:pPr indent="0" lvl="0" marL="0" rtl="0" algn="l">
              <a:spcBef>
                <a:spcPts val="1000"/>
              </a:spcBef>
              <a:spcAft>
                <a:spcPts val="1000"/>
              </a:spcAft>
              <a:buNone/>
            </a:pPr>
            <a:r>
              <a:t/>
            </a:r>
            <a:endParaRPr>
              <a:solidFill>
                <a:schemeClr val="lt1"/>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105"/>
          <p:cNvSpPr txBox="1"/>
          <p:nvPr>
            <p:ph type="title"/>
          </p:nvPr>
        </p:nvSpPr>
        <p:spPr>
          <a:xfrm>
            <a:off x="442025" y="144400"/>
            <a:ext cx="8386200" cy="5244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sz="2700"/>
              <a:t>Vision Transformer (ViT): An Image is Worth 16x16 words</a:t>
            </a:r>
            <a:endParaRPr sz="2700"/>
          </a:p>
        </p:txBody>
      </p:sp>
      <p:sp>
        <p:nvSpPr>
          <p:cNvPr id="620" name="Google Shape;620;p105"/>
          <p:cNvSpPr txBox="1"/>
          <p:nvPr>
            <p:ph idx="1" type="body"/>
          </p:nvPr>
        </p:nvSpPr>
        <p:spPr>
          <a:xfrm>
            <a:off x="442025" y="668800"/>
            <a:ext cx="7968600" cy="2181900"/>
          </a:xfrm>
          <a:prstGeom prst="rect">
            <a:avLst/>
          </a:prstGeom>
        </p:spPr>
        <p:txBody>
          <a:bodyPr anchorCtr="0" anchor="t" bIns="0" lIns="0" spcFirstLastPara="1" rIns="0" wrap="square" tIns="0">
            <a:spAutoFit/>
          </a:bodyPr>
          <a:lstStyle/>
          <a:p>
            <a:pPr indent="-228600" lvl="0" marL="457200" rtl="0" algn="l">
              <a:spcBef>
                <a:spcPts val="0"/>
              </a:spcBef>
              <a:spcAft>
                <a:spcPts val="0"/>
              </a:spcAft>
              <a:buSzPts val="2100"/>
              <a:buNone/>
            </a:pPr>
            <a:r>
              <a:rPr lang="en" sz="2100"/>
              <a:t>Naive application of self-attention would require each pixel to attend on every other. This does not scale!</a:t>
            </a:r>
            <a:endParaRPr sz="2100"/>
          </a:p>
          <a:p>
            <a:pPr indent="-228600" lvl="0" marL="457200" rtl="0" algn="l">
              <a:spcBef>
                <a:spcPts val="0"/>
              </a:spcBef>
              <a:spcAft>
                <a:spcPts val="0"/>
              </a:spcAft>
              <a:buSzPts val="2100"/>
              <a:buNone/>
            </a:pPr>
            <a:r>
              <a:rPr lang="en" sz="2100"/>
              <a:t>Solution: Break down image in patches.</a:t>
            </a:r>
            <a:endParaRPr sz="2100"/>
          </a:p>
          <a:p>
            <a:pPr indent="-228600" lvl="0" marL="457200" rtl="0" algn="l">
              <a:spcBef>
                <a:spcPts val="0"/>
              </a:spcBef>
              <a:spcAft>
                <a:spcPts val="0"/>
              </a:spcAft>
              <a:buSzPts val="2100"/>
              <a:buNone/>
            </a:pPr>
            <a:r>
              <a:rPr lang="en" sz="2100"/>
              <a:t>The Transformer’s sequence length is inversely proportional to the square of the patch size. </a:t>
            </a:r>
            <a:endParaRPr sz="2100"/>
          </a:p>
          <a:p>
            <a:pPr indent="-228600" lvl="0" marL="457200" rtl="0" algn="l">
              <a:spcBef>
                <a:spcPts val="0"/>
              </a:spcBef>
              <a:spcAft>
                <a:spcPts val="0"/>
              </a:spcAft>
              <a:buSzPts val="2100"/>
              <a:buNone/>
            </a:pPr>
            <a:r>
              <a:rPr lang="en" sz="2100"/>
              <a:t>Smaller patches -&gt; slower.</a:t>
            </a:r>
            <a:endParaRPr sz="2100"/>
          </a:p>
        </p:txBody>
      </p:sp>
      <p:pic>
        <p:nvPicPr>
          <p:cNvPr id="621" name="Google Shape;621;p105"/>
          <p:cNvPicPr preferRelativeResize="0"/>
          <p:nvPr/>
        </p:nvPicPr>
        <p:blipFill>
          <a:blip r:embed="rId3">
            <a:alphaModFix/>
          </a:blip>
          <a:stretch>
            <a:fillRect/>
          </a:stretch>
        </p:blipFill>
        <p:spPr>
          <a:xfrm>
            <a:off x="5334000" y="2247900"/>
            <a:ext cx="3810000" cy="2895600"/>
          </a:xfrm>
          <a:prstGeom prst="rect">
            <a:avLst/>
          </a:prstGeom>
          <a:noFill/>
          <a:ln>
            <a:noFill/>
          </a:ln>
        </p:spPr>
      </p:pic>
      <p:pic>
        <p:nvPicPr>
          <p:cNvPr id="622" name="Google Shape;622;p105"/>
          <p:cNvPicPr preferRelativeResize="0"/>
          <p:nvPr/>
        </p:nvPicPr>
        <p:blipFill>
          <a:blip r:embed="rId4">
            <a:alphaModFix/>
          </a:blip>
          <a:stretch>
            <a:fillRect/>
          </a:stretch>
        </p:blipFill>
        <p:spPr>
          <a:xfrm>
            <a:off x="0" y="2952200"/>
            <a:ext cx="3738300" cy="219129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6"/>
          <p:cNvSpPr txBox="1"/>
          <p:nvPr>
            <p:ph type="title"/>
          </p:nvPr>
        </p:nvSpPr>
        <p:spPr>
          <a:xfrm>
            <a:off x="229550" y="114550"/>
            <a:ext cx="8441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Swin Transformer: Hierarchical Vision Transformer using Shifted Windows </a:t>
            </a:r>
            <a:endParaRPr/>
          </a:p>
        </p:txBody>
      </p:sp>
      <p:sp>
        <p:nvSpPr>
          <p:cNvPr id="628" name="Google Shape;628;p106"/>
          <p:cNvSpPr txBox="1"/>
          <p:nvPr>
            <p:ph idx="1" type="body"/>
          </p:nvPr>
        </p:nvSpPr>
        <p:spPr>
          <a:xfrm>
            <a:off x="154003" y="1071150"/>
            <a:ext cx="7256100" cy="12330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Char char="●"/>
            </a:pPr>
            <a:r>
              <a:rPr lang="en"/>
              <a:t>The main drawback of Vision Transformer (ViT) is the model still </a:t>
            </a:r>
            <a:r>
              <a:rPr lang="en"/>
              <a:t>requires</a:t>
            </a:r>
            <a:r>
              <a:rPr lang="en"/>
              <a:t> a lot of training data. </a:t>
            </a:r>
            <a:endParaRPr/>
          </a:p>
          <a:p>
            <a:pPr indent="-342900" lvl="0" marL="457200" rtl="0" algn="l">
              <a:spcBef>
                <a:spcPts val="0"/>
              </a:spcBef>
              <a:spcAft>
                <a:spcPts val="0"/>
              </a:spcAft>
              <a:buSzPts val="1800"/>
              <a:buChar char="●"/>
            </a:pPr>
            <a:r>
              <a:rPr lang="en"/>
              <a:t>The </a:t>
            </a:r>
            <a:r>
              <a:rPr lang="en"/>
              <a:t>main</a:t>
            </a:r>
            <a:r>
              <a:rPr lang="en"/>
              <a:t> idea </a:t>
            </a:r>
            <a:r>
              <a:rPr lang="en"/>
              <a:t>behind the Swin transformer is to use window attention and to merge the patches</a:t>
            </a:r>
            <a:endParaRPr/>
          </a:p>
        </p:txBody>
      </p:sp>
      <p:pic>
        <p:nvPicPr>
          <p:cNvPr id="629" name="Google Shape;629;p106"/>
          <p:cNvPicPr preferRelativeResize="0"/>
          <p:nvPr/>
        </p:nvPicPr>
        <p:blipFill>
          <a:blip r:embed="rId3">
            <a:alphaModFix/>
          </a:blip>
          <a:stretch>
            <a:fillRect/>
          </a:stretch>
        </p:blipFill>
        <p:spPr>
          <a:xfrm>
            <a:off x="229550" y="2722200"/>
            <a:ext cx="3838622" cy="2110050"/>
          </a:xfrm>
          <a:prstGeom prst="rect">
            <a:avLst/>
          </a:prstGeom>
          <a:noFill/>
          <a:ln>
            <a:noFill/>
          </a:ln>
        </p:spPr>
      </p:pic>
      <p:pic>
        <p:nvPicPr>
          <p:cNvPr id="630" name="Google Shape;630;p106"/>
          <p:cNvPicPr preferRelativeResize="0"/>
          <p:nvPr/>
        </p:nvPicPr>
        <p:blipFill>
          <a:blip r:embed="rId4">
            <a:alphaModFix/>
          </a:blip>
          <a:stretch>
            <a:fillRect/>
          </a:stretch>
        </p:blipFill>
        <p:spPr>
          <a:xfrm>
            <a:off x="4068172" y="2820750"/>
            <a:ext cx="4771029" cy="180789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107"/>
          <p:cNvSpPr txBox="1"/>
          <p:nvPr>
            <p:ph type="title"/>
          </p:nvPr>
        </p:nvSpPr>
        <p:spPr>
          <a:xfrm>
            <a:off x="229550" y="114550"/>
            <a:ext cx="84411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Swin Transformer: Hierarchical Vision Transformer using Shifted Windows </a:t>
            </a:r>
            <a:endParaRPr/>
          </a:p>
        </p:txBody>
      </p:sp>
      <p:sp>
        <p:nvSpPr>
          <p:cNvPr id="636" name="Google Shape;636;p107"/>
          <p:cNvSpPr txBox="1"/>
          <p:nvPr>
            <p:ph idx="1" type="body"/>
          </p:nvPr>
        </p:nvSpPr>
        <p:spPr>
          <a:xfrm>
            <a:off x="154003" y="1071150"/>
            <a:ext cx="7256100" cy="12330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Char char="●"/>
            </a:pPr>
            <a:r>
              <a:rPr lang="en"/>
              <a:t>The main drawback of Vision Transformer (ViT) is the model still requires a lot of training data. </a:t>
            </a:r>
            <a:endParaRPr/>
          </a:p>
          <a:p>
            <a:pPr indent="-342900" lvl="0" marL="457200" rtl="0" algn="l">
              <a:spcBef>
                <a:spcPts val="0"/>
              </a:spcBef>
              <a:spcAft>
                <a:spcPts val="0"/>
              </a:spcAft>
              <a:buSzPts val="1800"/>
              <a:buChar char="●"/>
            </a:pPr>
            <a:r>
              <a:rPr lang="en"/>
              <a:t>The main idea behind the Swin transformer is to use window attention, shifted window attention and to merge the patches</a:t>
            </a:r>
            <a:endParaRPr/>
          </a:p>
        </p:txBody>
      </p:sp>
      <p:pic>
        <p:nvPicPr>
          <p:cNvPr id="637" name="Google Shape;637;p107"/>
          <p:cNvPicPr preferRelativeResize="0"/>
          <p:nvPr/>
        </p:nvPicPr>
        <p:blipFill>
          <a:blip r:embed="rId3">
            <a:alphaModFix/>
          </a:blip>
          <a:stretch>
            <a:fillRect/>
          </a:stretch>
        </p:blipFill>
        <p:spPr>
          <a:xfrm>
            <a:off x="37750" y="2429450"/>
            <a:ext cx="8632908" cy="25345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8"/>
          <p:cNvSpPr txBox="1"/>
          <p:nvPr>
            <p:ph type="title"/>
          </p:nvPr>
        </p:nvSpPr>
        <p:spPr>
          <a:xfrm>
            <a:off x="229550" y="114550"/>
            <a:ext cx="8441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A ConvNet for the 2020s</a:t>
            </a:r>
            <a:endParaRPr/>
          </a:p>
        </p:txBody>
      </p:sp>
      <p:sp>
        <p:nvSpPr>
          <p:cNvPr id="643" name="Google Shape;643;p108"/>
          <p:cNvSpPr txBox="1"/>
          <p:nvPr>
            <p:ph idx="1" type="body"/>
          </p:nvPr>
        </p:nvSpPr>
        <p:spPr>
          <a:xfrm>
            <a:off x="76175" y="612050"/>
            <a:ext cx="6680400" cy="10683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Char char="●"/>
            </a:pPr>
            <a:r>
              <a:rPr lang="en"/>
              <a:t>Convolutional neural networks are still state of the art for a lot of CV tasks if </a:t>
            </a:r>
            <a:r>
              <a:rPr lang="en"/>
              <a:t>trained</a:t>
            </a:r>
            <a:r>
              <a:rPr lang="en"/>
              <a:t> </a:t>
            </a:r>
            <a:r>
              <a:rPr lang="en"/>
              <a:t>efficiently</a:t>
            </a:r>
            <a:r>
              <a:rPr lang="en"/>
              <a:t> </a:t>
            </a:r>
            <a:endParaRPr/>
          </a:p>
          <a:p>
            <a:pPr indent="0" lvl="0" marL="0" rtl="0" algn="l">
              <a:spcBef>
                <a:spcPts val="1200"/>
              </a:spcBef>
              <a:spcAft>
                <a:spcPts val="1200"/>
              </a:spcAft>
              <a:buNone/>
            </a:pPr>
            <a:r>
              <a:t/>
            </a:r>
            <a:endParaRPr/>
          </a:p>
        </p:txBody>
      </p:sp>
      <p:pic>
        <p:nvPicPr>
          <p:cNvPr id="644" name="Google Shape;644;p108"/>
          <p:cNvPicPr preferRelativeResize="0"/>
          <p:nvPr/>
        </p:nvPicPr>
        <p:blipFill>
          <a:blip r:embed="rId3">
            <a:alphaModFix/>
          </a:blip>
          <a:stretch>
            <a:fillRect/>
          </a:stretch>
        </p:blipFill>
        <p:spPr>
          <a:xfrm>
            <a:off x="393600" y="1345750"/>
            <a:ext cx="5839749" cy="35920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09"/>
          <p:cNvSpPr txBox="1"/>
          <p:nvPr>
            <p:ph type="title"/>
          </p:nvPr>
        </p:nvSpPr>
        <p:spPr>
          <a:xfrm>
            <a:off x="229550" y="114550"/>
            <a:ext cx="8441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700"/>
              <a:t>A ConvNet for the 2020s</a:t>
            </a:r>
            <a:endParaRPr/>
          </a:p>
        </p:txBody>
      </p:sp>
      <p:sp>
        <p:nvSpPr>
          <p:cNvPr id="650" name="Google Shape;650;p109"/>
          <p:cNvSpPr txBox="1"/>
          <p:nvPr>
            <p:ph idx="1" type="body"/>
          </p:nvPr>
        </p:nvSpPr>
        <p:spPr>
          <a:xfrm>
            <a:off x="76175" y="612050"/>
            <a:ext cx="3933600" cy="23427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Char char="●"/>
            </a:pPr>
            <a:r>
              <a:rPr lang="en"/>
              <a:t>Larger kernels</a:t>
            </a:r>
            <a:endParaRPr/>
          </a:p>
          <a:p>
            <a:pPr indent="-342900" lvl="0" marL="457200" rtl="0" algn="l">
              <a:spcBef>
                <a:spcPts val="0"/>
              </a:spcBef>
              <a:spcAft>
                <a:spcPts val="0"/>
              </a:spcAft>
              <a:buSzPts val="1800"/>
              <a:buChar char="●"/>
            </a:pPr>
            <a:r>
              <a:rPr lang="en"/>
              <a:t>Replacing ReLU with GELU</a:t>
            </a:r>
            <a:endParaRPr/>
          </a:p>
          <a:p>
            <a:pPr indent="-342900" lvl="0" marL="457200" rtl="0" algn="l">
              <a:spcBef>
                <a:spcPts val="0"/>
              </a:spcBef>
              <a:spcAft>
                <a:spcPts val="0"/>
              </a:spcAft>
              <a:buSzPts val="1800"/>
              <a:buChar char="●"/>
            </a:pPr>
            <a:r>
              <a:rPr lang="en"/>
              <a:t>Fewer activation functions</a:t>
            </a:r>
            <a:endParaRPr/>
          </a:p>
          <a:p>
            <a:pPr indent="-342900" lvl="0" marL="457200" rtl="0" algn="l">
              <a:spcBef>
                <a:spcPts val="0"/>
              </a:spcBef>
              <a:spcAft>
                <a:spcPts val="0"/>
              </a:spcAft>
              <a:buSzPts val="1800"/>
              <a:buChar char="●"/>
            </a:pPr>
            <a:r>
              <a:rPr lang="en"/>
              <a:t>Fewer normalization layers</a:t>
            </a:r>
            <a:endParaRPr/>
          </a:p>
          <a:p>
            <a:pPr indent="-342900" lvl="0" marL="457200" rtl="0" algn="l">
              <a:spcBef>
                <a:spcPts val="0"/>
              </a:spcBef>
              <a:spcAft>
                <a:spcPts val="0"/>
              </a:spcAft>
              <a:buSzPts val="1800"/>
              <a:buChar char="●"/>
            </a:pPr>
            <a:r>
              <a:rPr lang="en"/>
              <a:t>Substituting BN with LN</a:t>
            </a:r>
            <a:endParaRPr/>
          </a:p>
          <a:p>
            <a:pPr indent="-342900" lvl="0" marL="457200" rtl="0" algn="l">
              <a:spcBef>
                <a:spcPts val="0"/>
              </a:spcBef>
              <a:spcAft>
                <a:spcPts val="0"/>
              </a:spcAft>
              <a:buSzPts val="1800"/>
              <a:buChar char="●"/>
            </a:pPr>
            <a:r>
              <a:rPr lang="en"/>
              <a:t>Separate downsampling layers</a:t>
            </a:r>
            <a:endParaRPr/>
          </a:p>
          <a:p>
            <a:pPr indent="0" lvl="0" marL="0" rtl="0" algn="l">
              <a:spcBef>
                <a:spcPts val="1200"/>
              </a:spcBef>
              <a:spcAft>
                <a:spcPts val="1200"/>
              </a:spcAft>
              <a:buNone/>
            </a:pPr>
            <a:r>
              <a:t/>
            </a:r>
            <a:endParaRPr/>
          </a:p>
        </p:txBody>
      </p:sp>
      <p:pic>
        <p:nvPicPr>
          <p:cNvPr id="651" name="Google Shape;651;p109"/>
          <p:cNvPicPr preferRelativeResize="0"/>
          <p:nvPr/>
        </p:nvPicPr>
        <p:blipFill>
          <a:blip r:embed="rId3">
            <a:alphaModFix/>
          </a:blip>
          <a:stretch>
            <a:fillRect/>
          </a:stretch>
        </p:blipFill>
        <p:spPr>
          <a:xfrm>
            <a:off x="4071875" y="261350"/>
            <a:ext cx="5072124" cy="48821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110"/>
          <p:cNvSpPr txBox="1"/>
          <p:nvPr>
            <p:ph type="title"/>
          </p:nvPr>
        </p:nvSpPr>
        <p:spPr>
          <a:xfrm>
            <a:off x="442025" y="144400"/>
            <a:ext cx="8386200" cy="5244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sz="2700"/>
              <a:t>MaxViT: Multi-Axis Vision Transformer</a:t>
            </a:r>
            <a:r>
              <a:rPr lang="en" sz="2700"/>
              <a:t> </a:t>
            </a:r>
            <a:endParaRPr sz="2700"/>
          </a:p>
        </p:txBody>
      </p:sp>
      <p:pic>
        <p:nvPicPr>
          <p:cNvPr id="657" name="Google Shape;657;p110"/>
          <p:cNvPicPr preferRelativeResize="0"/>
          <p:nvPr/>
        </p:nvPicPr>
        <p:blipFill>
          <a:blip r:embed="rId3">
            <a:alphaModFix/>
          </a:blip>
          <a:stretch>
            <a:fillRect/>
          </a:stretch>
        </p:blipFill>
        <p:spPr>
          <a:xfrm>
            <a:off x="2655675" y="859025"/>
            <a:ext cx="6607401" cy="3873100"/>
          </a:xfrm>
          <a:prstGeom prst="rect">
            <a:avLst/>
          </a:prstGeom>
          <a:noFill/>
          <a:ln>
            <a:noFill/>
          </a:ln>
        </p:spPr>
      </p:pic>
      <p:sp>
        <p:nvSpPr>
          <p:cNvPr id="658" name="Google Shape;658;p110"/>
          <p:cNvSpPr txBox="1"/>
          <p:nvPr/>
        </p:nvSpPr>
        <p:spPr>
          <a:xfrm>
            <a:off x="165625" y="891500"/>
            <a:ext cx="5190300" cy="11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Tran</a:t>
            </a:r>
            <a:r>
              <a:rPr lang="en" sz="1800">
                <a:solidFill>
                  <a:schemeClr val="lt2"/>
                </a:solidFill>
              </a:rPr>
              <a:t>s</a:t>
            </a:r>
            <a:r>
              <a:rPr lang="en" sz="1800">
                <a:solidFill>
                  <a:schemeClr val="lt2"/>
                </a:solidFill>
              </a:rPr>
              <a:t>formers are back!</a:t>
            </a:r>
            <a:endParaRPr sz="1800">
              <a:solidFill>
                <a:schemeClr val="lt2"/>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1"/>
          <p:cNvSpPr txBox="1"/>
          <p:nvPr>
            <p:ph type="title"/>
          </p:nvPr>
        </p:nvSpPr>
        <p:spPr>
          <a:xfrm>
            <a:off x="442025" y="144400"/>
            <a:ext cx="8386200" cy="5244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sz="2700"/>
              <a:t>MaxViT: Multi-Axis Vision Transformer Architecture</a:t>
            </a:r>
            <a:endParaRPr sz="2700"/>
          </a:p>
          <a:p>
            <a:pPr indent="0" lvl="0" marL="0" rtl="0" algn="l">
              <a:spcBef>
                <a:spcPts val="0"/>
              </a:spcBef>
              <a:spcAft>
                <a:spcPts val="0"/>
              </a:spcAft>
              <a:buSzPts val="1000"/>
              <a:buNone/>
            </a:pPr>
            <a:r>
              <a:t/>
            </a:r>
            <a:endParaRPr sz="2700"/>
          </a:p>
          <a:p>
            <a:pPr indent="0" lvl="0" marL="0" rtl="0" algn="l">
              <a:spcBef>
                <a:spcPts val="0"/>
              </a:spcBef>
              <a:spcAft>
                <a:spcPts val="0"/>
              </a:spcAft>
              <a:buSzPts val="1000"/>
              <a:buNone/>
            </a:pPr>
            <a:r>
              <a:t/>
            </a:r>
            <a:endParaRPr b="0" sz="1800">
              <a:solidFill>
                <a:schemeClr val="lt2"/>
              </a:solidFill>
              <a:latin typeface="Arial"/>
              <a:ea typeface="Arial"/>
              <a:cs typeface="Arial"/>
              <a:sym typeface="Arial"/>
            </a:endParaRPr>
          </a:p>
          <a:p>
            <a:pPr indent="0" lvl="0" marL="0" rtl="0" algn="l">
              <a:spcBef>
                <a:spcPts val="0"/>
              </a:spcBef>
              <a:spcAft>
                <a:spcPts val="0"/>
              </a:spcAft>
              <a:buSzPts val="1000"/>
              <a:buNone/>
            </a:pPr>
            <a:r>
              <a:t/>
            </a:r>
            <a:endParaRPr sz="2700"/>
          </a:p>
        </p:txBody>
      </p:sp>
      <p:sp>
        <p:nvSpPr>
          <p:cNvPr id="664" name="Google Shape;664;p111"/>
          <p:cNvSpPr txBox="1"/>
          <p:nvPr/>
        </p:nvSpPr>
        <p:spPr>
          <a:xfrm>
            <a:off x="500225" y="821450"/>
            <a:ext cx="36495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pic>
        <p:nvPicPr>
          <p:cNvPr id="665" name="Google Shape;665;p111"/>
          <p:cNvPicPr preferRelativeResize="0"/>
          <p:nvPr/>
        </p:nvPicPr>
        <p:blipFill>
          <a:blip r:embed="rId3">
            <a:alphaModFix/>
          </a:blip>
          <a:stretch>
            <a:fillRect/>
          </a:stretch>
        </p:blipFill>
        <p:spPr>
          <a:xfrm>
            <a:off x="237928" y="821450"/>
            <a:ext cx="8668136" cy="411805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112"/>
          <p:cNvSpPr txBox="1"/>
          <p:nvPr>
            <p:ph type="title"/>
          </p:nvPr>
        </p:nvSpPr>
        <p:spPr>
          <a:xfrm>
            <a:off x="442025" y="144400"/>
            <a:ext cx="8386200" cy="5244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sz="2700"/>
              <a:t>MaxViT: Multi-Axis Vision Transformer Tricks </a:t>
            </a:r>
            <a:endParaRPr sz="2700"/>
          </a:p>
        </p:txBody>
      </p:sp>
      <p:pic>
        <p:nvPicPr>
          <p:cNvPr id="671" name="Google Shape;671;p112"/>
          <p:cNvPicPr preferRelativeResize="0"/>
          <p:nvPr/>
        </p:nvPicPr>
        <p:blipFill>
          <a:blip r:embed="rId3">
            <a:alphaModFix/>
          </a:blip>
          <a:stretch>
            <a:fillRect/>
          </a:stretch>
        </p:blipFill>
        <p:spPr>
          <a:xfrm>
            <a:off x="152400" y="2470875"/>
            <a:ext cx="8839203" cy="2237252"/>
          </a:xfrm>
          <a:prstGeom prst="rect">
            <a:avLst/>
          </a:prstGeom>
          <a:noFill/>
          <a:ln>
            <a:noFill/>
          </a:ln>
        </p:spPr>
      </p:pic>
      <p:sp>
        <p:nvSpPr>
          <p:cNvPr id="672" name="Google Shape;672;p112"/>
          <p:cNvSpPr txBox="1"/>
          <p:nvPr/>
        </p:nvSpPr>
        <p:spPr>
          <a:xfrm>
            <a:off x="500225" y="821450"/>
            <a:ext cx="36495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Both window and grid attention.</a:t>
            </a:r>
            <a:endParaRPr sz="1800">
              <a:solidFill>
                <a:schemeClr val="lt2"/>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113"/>
          <p:cNvSpPr txBox="1"/>
          <p:nvPr>
            <p:ph type="ctrTitle"/>
          </p:nvPr>
        </p:nvSpPr>
        <p:spPr>
          <a:xfrm>
            <a:off x="311708" y="189742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5000"/>
              <a:t>Semantic segmentation with UNet</a:t>
            </a:r>
            <a:endParaRPr sz="50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pic>
        <p:nvPicPr>
          <p:cNvPr id="682" name="Google Shape;682;p114"/>
          <p:cNvPicPr preferRelativeResize="0"/>
          <p:nvPr/>
        </p:nvPicPr>
        <p:blipFill>
          <a:blip r:embed="rId3">
            <a:alphaModFix/>
          </a:blip>
          <a:stretch>
            <a:fillRect/>
          </a:stretch>
        </p:blipFill>
        <p:spPr>
          <a:xfrm>
            <a:off x="0" y="0"/>
            <a:ext cx="9144003" cy="3616524"/>
          </a:xfrm>
          <a:prstGeom prst="rect">
            <a:avLst/>
          </a:prstGeom>
          <a:noFill/>
          <a:ln>
            <a:noFill/>
          </a:ln>
        </p:spPr>
      </p:pic>
      <p:sp>
        <p:nvSpPr>
          <p:cNvPr id="683" name="Google Shape;683;p114"/>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115"/>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689" name="Google Shape;689;p115"/>
          <p:cNvPicPr preferRelativeResize="0"/>
          <p:nvPr/>
        </p:nvPicPr>
        <p:blipFill>
          <a:blip r:embed="rId3">
            <a:alphaModFix/>
          </a:blip>
          <a:stretch>
            <a:fillRect/>
          </a:stretch>
        </p:blipFill>
        <p:spPr>
          <a:xfrm>
            <a:off x="0" y="0"/>
            <a:ext cx="9144003" cy="4013896"/>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116"/>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695" name="Google Shape;695;p116"/>
          <p:cNvPicPr preferRelativeResize="0"/>
          <p:nvPr/>
        </p:nvPicPr>
        <p:blipFill>
          <a:blip r:embed="rId3">
            <a:alphaModFix/>
          </a:blip>
          <a:stretch>
            <a:fillRect/>
          </a:stretch>
        </p:blipFill>
        <p:spPr>
          <a:xfrm>
            <a:off x="0" y="8"/>
            <a:ext cx="7995976" cy="4548492"/>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17"/>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701" name="Google Shape;701;p117"/>
          <p:cNvPicPr preferRelativeResize="0"/>
          <p:nvPr/>
        </p:nvPicPr>
        <p:blipFill>
          <a:blip r:embed="rId3">
            <a:alphaModFix/>
          </a:blip>
          <a:stretch>
            <a:fillRect/>
          </a:stretch>
        </p:blipFill>
        <p:spPr>
          <a:xfrm>
            <a:off x="0" y="11"/>
            <a:ext cx="8574300" cy="454254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1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Before Unet</a:t>
            </a:r>
            <a:endParaRPr/>
          </a:p>
        </p:txBody>
      </p:sp>
      <p:sp>
        <p:nvSpPr>
          <p:cNvPr id="707" name="Google Shape;707;p1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08" name="Google Shape;708;p118"/>
          <p:cNvPicPr preferRelativeResize="0"/>
          <p:nvPr/>
        </p:nvPicPr>
        <p:blipFill>
          <a:blip r:embed="rId3">
            <a:alphaModFix/>
          </a:blip>
          <a:stretch>
            <a:fillRect/>
          </a:stretch>
        </p:blipFill>
        <p:spPr>
          <a:xfrm>
            <a:off x="311700" y="1098550"/>
            <a:ext cx="8343900" cy="352425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Transposed Convolution</a:t>
            </a:r>
            <a:endParaRPr>
              <a:solidFill>
                <a:srgbClr val="292929"/>
              </a:solidFill>
            </a:endParaRPr>
          </a:p>
        </p:txBody>
      </p:sp>
      <p:sp>
        <p:nvSpPr>
          <p:cNvPr id="714" name="Google Shape;714;p119"/>
          <p:cNvSpPr txBox="1"/>
          <p:nvPr/>
        </p:nvSpPr>
        <p:spPr>
          <a:xfrm>
            <a:off x="266050" y="1152850"/>
            <a:ext cx="71832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Char char="●"/>
            </a:pPr>
            <a:r>
              <a:rPr lang="en" sz="2000">
                <a:solidFill>
                  <a:schemeClr val="dk2"/>
                </a:solidFill>
              </a:rPr>
              <a:t>torch.nn.ConvTranspose2d</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Projects feature map to a higher-dimensional space</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Sometimes it’s referred to as “deconvolution”, although it’s not an actual deconvolution operation, i.e. it does not compute the true inverse of the convolution</a:t>
            </a:r>
            <a:endParaRPr sz="2000">
              <a:solidFill>
                <a:schemeClr val="dk2"/>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Regular Convolution</a:t>
            </a:r>
            <a:endParaRPr>
              <a:solidFill>
                <a:srgbClr val="292929"/>
              </a:solidFill>
            </a:endParaRPr>
          </a:p>
        </p:txBody>
      </p:sp>
      <p:pic>
        <p:nvPicPr>
          <p:cNvPr id="720" name="Google Shape;720;p120"/>
          <p:cNvPicPr preferRelativeResize="0"/>
          <p:nvPr/>
        </p:nvPicPr>
        <p:blipFill>
          <a:blip r:embed="rId3">
            <a:alphaModFix/>
          </a:blip>
          <a:stretch>
            <a:fillRect/>
          </a:stretch>
        </p:blipFill>
        <p:spPr>
          <a:xfrm>
            <a:off x="311700" y="1181200"/>
            <a:ext cx="8839201" cy="2685055"/>
          </a:xfrm>
          <a:prstGeom prst="rect">
            <a:avLst/>
          </a:prstGeom>
          <a:noFill/>
          <a:ln>
            <a:noFill/>
          </a:ln>
        </p:spPr>
      </p:pic>
      <p:sp>
        <p:nvSpPr>
          <p:cNvPr id="721" name="Google Shape;721;p120"/>
          <p:cNvSpPr txBox="1"/>
          <p:nvPr/>
        </p:nvSpPr>
        <p:spPr>
          <a:xfrm>
            <a:off x="521000" y="4533825"/>
            <a:ext cx="638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Dumoulin et al. “</a:t>
            </a:r>
            <a:r>
              <a:rPr lang="en" sz="1600">
                <a:solidFill>
                  <a:schemeClr val="dk1"/>
                </a:solidFill>
              </a:rPr>
              <a:t>A guide to convolution arithmetic for deep learning</a:t>
            </a:r>
            <a:r>
              <a:rPr lang="en" sz="1700">
                <a:solidFill>
                  <a:schemeClr val="dk2"/>
                </a:solidFill>
              </a:rPr>
              <a:t>”</a:t>
            </a:r>
            <a:endParaRPr sz="1700">
              <a:solidFill>
                <a:schemeClr val="dk2"/>
              </a:solidFill>
            </a:endParaRPr>
          </a:p>
        </p:txBody>
      </p:sp>
      <p:sp>
        <p:nvSpPr>
          <p:cNvPr id="722" name="Google Shape;722;p120"/>
          <p:cNvSpPr txBox="1"/>
          <p:nvPr/>
        </p:nvSpPr>
        <p:spPr>
          <a:xfrm>
            <a:off x="55425" y="17293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p:txBody>
      </p:sp>
      <p:sp>
        <p:nvSpPr>
          <p:cNvPr id="723" name="Google Shape;723;p120"/>
          <p:cNvSpPr txBox="1"/>
          <p:nvPr/>
        </p:nvSpPr>
        <p:spPr>
          <a:xfrm>
            <a:off x="0" y="2779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Transposed</a:t>
            </a:r>
            <a:r>
              <a:rPr lang="en">
                <a:solidFill>
                  <a:srgbClr val="292929"/>
                </a:solidFill>
              </a:rPr>
              <a:t> Convolution</a:t>
            </a:r>
            <a:endParaRPr>
              <a:solidFill>
                <a:srgbClr val="292929"/>
              </a:solidFill>
            </a:endParaRPr>
          </a:p>
        </p:txBody>
      </p:sp>
      <p:sp>
        <p:nvSpPr>
          <p:cNvPr id="729" name="Google Shape;729;p121"/>
          <p:cNvSpPr txBox="1"/>
          <p:nvPr/>
        </p:nvSpPr>
        <p:spPr>
          <a:xfrm>
            <a:off x="521000" y="4533825"/>
            <a:ext cx="638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Dumoulin et al. “</a:t>
            </a:r>
            <a:r>
              <a:rPr lang="en" sz="1600">
                <a:solidFill>
                  <a:schemeClr val="dk1"/>
                </a:solidFill>
              </a:rPr>
              <a:t>A guide to convolution arithmetic for deep learning</a:t>
            </a:r>
            <a:r>
              <a:rPr lang="en" sz="1700">
                <a:solidFill>
                  <a:schemeClr val="dk2"/>
                </a:solidFill>
              </a:rPr>
              <a:t>”</a:t>
            </a:r>
            <a:endParaRPr sz="1700">
              <a:solidFill>
                <a:schemeClr val="dk2"/>
              </a:solidFill>
            </a:endParaRPr>
          </a:p>
        </p:txBody>
      </p:sp>
      <p:sp>
        <p:nvSpPr>
          <p:cNvPr id="730" name="Google Shape;730;p121"/>
          <p:cNvSpPr txBox="1"/>
          <p:nvPr/>
        </p:nvSpPr>
        <p:spPr>
          <a:xfrm>
            <a:off x="55425" y="17293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p:txBody>
      </p:sp>
      <p:sp>
        <p:nvSpPr>
          <p:cNvPr id="731" name="Google Shape;731;p121"/>
          <p:cNvSpPr txBox="1"/>
          <p:nvPr/>
        </p:nvSpPr>
        <p:spPr>
          <a:xfrm>
            <a:off x="0" y="2779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pic>
        <p:nvPicPr>
          <p:cNvPr id="732" name="Google Shape;732;p121"/>
          <p:cNvPicPr preferRelativeResize="0"/>
          <p:nvPr/>
        </p:nvPicPr>
        <p:blipFill>
          <a:blip r:embed="rId3">
            <a:alphaModFix/>
          </a:blip>
          <a:stretch>
            <a:fillRect/>
          </a:stretch>
        </p:blipFill>
        <p:spPr>
          <a:xfrm>
            <a:off x="1309075" y="1282020"/>
            <a:ext cx="4386426" cy="2411199"/>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122"/>
          <p:cNvPicPr preferRelativeResize="0"/>
          <p:nvPr/>
        </p:nvPicPr>
        <p:blipFill>
          <a:blip r:embed="rId3">
            <a:alphaModFix/>
          </a:blip>
          <a:stretch>
            <a:fillRect/>
          </a:stretch>
        </p:blipFill>
        <p:spPr>
          <a:xfrm>
            <a:off x="775950" y="1297900"/>
            <a:ext cx="8368052" cy="2547700"/>
          </a:xfrm>
          <a:prstGeom prst="rect">
            <a:avLst/>
          </a:prstGeom>
          <a:noFill/>
          <a:ln>
            <a:noFill/>
          </a:ln>
        </p:spPr>
      </p:pic>
      <p:sp>
        <p:nvSpPr>
          <p:cNvPr id="738" name="Google Shape;738;p1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Transpose Convolution (emulated with direct conv)</a:t>
            </a:r>
            <a:endParaRPr>
              <a:solidFill>
                <a:srgbClr val="292929"/>
              </a:solidFill>
            </a:endParaRPr>
          </a:p>
        </p:txBody>
      </p:sp>
      <p:sp>
        <p:nvSpPr>
          <p:cNvPr id="739" name="Google Shape;739;p122"/>
          <p:cNvSpPr txBox="1"/>
          <p:nvPr/>
        </p:nvSpPr>
        <p:spPr>
          <a:xfrm>
            <a:off x="521000" y="4533825"/>
            <a:ext cx="638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Dumoulin et al. “</a:t>
            </a:r>
            <a:r>
              <a:rPr lang="en" sz="1600">
                <a:solidFill>
                  <a:schemeClr val="dk1"/>
                </a:solidFill>
              </a:rPr>
              <a:t>A guide to convolution arithmetic for deep learning</a:t>
            </a:r>
            <a:r>
              <a:rPr lang="en" sz="1700">
                <a:solidFill>
                  <a:schemeClr val="dk2"/>
                </a:solidFill>
              </a:rPr>
              <a:t>”</a:t>
            </a:r>
            <a:endParaRPr sz="1700">
              <a:solidFill>
                <a:schemeClr val="dk2"/>
              </a:solidFill>
            </a:endParaRPr>
          </a:p>
        </p:txBody>
      </p:sp>
      <p:sp>
        <p:nvSpPr>
          <p:cNvPr id="740" name="Google Shape;740;p122"/>
          <p:cNvSpPr txBox="1"/>
          <p:nvPr/>
        </p:nvSpPr>
        <p:spPr>
          <a:xfrm>
            <a:off x="88700" y="1740375"/>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output</a:t>
            </a:r>
            <a:endParaRPr sz="1800">
              <a:solidFill>
                <a:schemeClr val="dk2"/>
              </a:solidFill>
            </a:endParaRPr>
          </a:p>
        </p:txBody>
      </p:sp>
      <p:sp>
        <p:nvSpPr>
          <p:cNvPr id="741" name="Google Shape;741;p122"/>
          <p:cNvSpPr txBox="1"/>
          <p:nvPr/>
        </p:nvSpPr>
        <p:spPr>
          <a:xfrm>
            <a:off x="0" y="2779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input</a:t>
            </a:r>
            <a:endParaRPr sz="1800">
              <a:solidFill>
                <a:schemeClr val="dk2"/>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Transpose Convolution and Checkerboard artifacts</a:t>
            </a:r>
            <a:endParaRPr>
              <a:solidFill>
                <a:srgbClr val="292929"/>
              </a:solidFill>
            </a:endParaRPr>
          </a:p>
        </p:txBody>
      </p:sp>
      <p:sp>
        <p:nvSpPr>
          <p:cNvPr id="747" name="Google Shape;747;p123"/>
          <p:cNvSpPr txBox="1"/>
          <p:nvPr/>
        </p:nvSpPr>
        <p:spPr>
          <a:xfrm>
            <a:off x="2759100" y="4633575"/>
            <a:ext cx="6384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https://distill.pub/2016/deconv-checkerboard/</a:t>
            </a:r>
            <a:r>
              <a:rPr lang="en" sz="1700">
                <a:solidFill>
                  <a:schemeClr val="dk2"/>
                </a:solidFill>
              </a:rPr>
              <a:t> </a:t>
            </a:r>
            <a:endParaRPr sz="1700">
              <a:solidFill>
                <a:schemeClr val="dk2"/>
              </a:solidFill>
            </a:endParaRPr>
          </a:p>
        </p:txBody>
      </p:sp>
      <p:pic>
        <p:nvPicPr>
          <p:cNvPr id="748" name="Google Shape;748;p123"/>
          <p:cNvPicPr preferRelativeResize="0"/>
          <p:nvPr/>
        </p:nvPicPr>
        <p:blipFill>
          <a:blip r:embed="rId4">
            <a:alphaModFix/>
          </a:blip>
          <a:stretch>
            <a:fillRect/>
          </a:stretch>
        </p:blipFill>
        <p:spPr>
          <a:xfrm>
            <a:off x="1341825" y="1159050"/>
            <a:ext cx="7802174" cy="2388200"/>
          </a:xfrm>
          <a:prstGeom prst="rect">
            <a:avLst/>
          </a:prstGeom>
          <a:noFill/>
          <a:ln>
            <a:noFill/>
          </a:ln>
        </p:spPr>
      </p:pic>
      <p:pic>
        <p:nvPicPr>
          <p:cNvPr id="749" name="Google Shape;749;p123"/>
          <p:cNvPicPr preferRelativeResize="0"/>
          <p:nvPr/>
        </p:nvPicPr>
        <p:blipFill>
          <a:blip r:embed="rId5">
            <a:alphaModFix/>
          </a:blip>
          <a:stretch>
            <a:fillRect/>
          </a:stretch>
        </p:blipFill>
        <p:spPr>
          <a:xfrm>
            <a:off x="0" y="1510150"/>
            <a:ext cx="1857600" cy="2931300"/>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292929"/>
                </a:solidFill>
              </a:rPr>
              <a:t>Idea: Interpolation(upsampling) + Regular conv</a:t>
            </a:r>
            <a:endParaRPr>
              <a:solidFill>
                <a:srgbClr val="292929"/>
              </a:solidFill>
            </a:endParaRPr>
          </a:p>
        </p:txBody>
      </p:sp>
      <p:sp>
        <p:nvSpPr>
          <p:cNvPr id="755" name="Google Shape;755;p124"/>
          <p:cNvSpPr txBox="1"/>
          <p:nvPr/>
        </p:nvSpPr>
        <p:spPr>
          <a:xfrm>
            <a:off x="387975" y="1319125"/>
            <a:ext cx="71499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Char char="●"/>
            </a:pPr>
            <a:r>
              <a:rPr lang="en" sz="2000">
                <a:solidFill>
                  <a:schemeClr val="dk2"/>
                </a:solidFill>
              </a:rPr>
              <a:t>torch.nn.Upsample</a:t>
            </a:r>
            <a:endParaRPr sz="2000">
              <a:solidFill>
                <a:schemeClr val="dk2"/>
              </a:solidFill>
            </a:endParaRPr>
          </a:p>
          <a:p>
            <a:pPr indent="0" lvl="0" marL="457200" rtl="0" algn="l">
              <a:spcBef>
                <a:spcPts val="0"/>
              </a:spcBef>
              <a:spcAft>
                <a:spcPts val="0"/>
              </a:spcAft>
              <a:buNone/>
            </a:pPr>
            <a:r>
              <a:t/>
            </a:r>
            <a:endParaRPr sz="2000">
              <a:solidFill>
                <a:schemeClr val="dk2"/>
              </a:solidFill>
            </a:endParaRPr>
          </a:p>
          <a:p>
            <a:pPr indent="-355600" lvl="0" marL="457200" rtl="0" algn="l">
              <a:spcBef>
                <a:spcPts val="0"/>
              </a:spcBef>
              <a:spcAft>
                <a:spcPts val="0"/>
              </a:spcAft>
              <a:buClr>
                <a:schemeClr val="dk2"/>
              </a:buClr>
              <a:buSzPts val="2000"/>
              <a:buChar char="●"/>
            </a:pPr>
            <a:r>
              <a:rPr lang="en" sz="2000">
                <a:solidFill>
                  <a:schemeClr val="dk2"/>
                </a:solidFill>
              </a:rPr>
              <a:t>Possible upsampling algorithms: linear, bilinear, bicubic, nearest neighbour</a:t>
            </a:r>
            <a:endParaRPr sz="2000">
              <a:solidFill>
                <a:schemeClr val="dk2"/>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pic>
        <p:nvPicPr>
          <p:cNvPr id="760" name="Google Shape;760;p125"/>
          <p:cNvPicPr preferRelativeResize="0"/>
          <p:nvPr/>
        </p:nvPicPr>
        <p:blipFill>
          <a:blip r:embed="rId3">
            <a:alphaModFix/>
          </a:blip>
          <a:stretch>
            <a:fillRect/>
          </a:stretch>
        </p:blipFill>
        <p:spPr>
          <a:xfrm>
            <a:off x="872925" y="1460425"/>
            <a:ext cx="6696274" cy="3572225"/>
          </a:xfrm>
          <a:prstGeom prst="rect">
            <a:avLst/>
          </a:prstGeom>
          <a:noFill/>
          <a:ln>
            <a:noFill/>
          </a:ln>
        </p:spPr>
      </p:pic>
      <p:sp>
        <p:nvSpPr>
          <p:cNvPr id="761" name="Google Shape;761;p1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Fully Convolutional Networks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26"/>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767" name="Google Shape;767;p126"/>
          <p:cNvPicPr preferRelativeResize="0"/>
          <p:nvPr/>
        </p:nvPicPr>
        <p:blipFill>
          <a:blip r:embed="rId3">
            <a:alphaModFix/>
          </a:blip>
          <a:stretch>
            <a:fillRect/>
          </a:stretch>
        </p:blipFill>
        <p:spPr>
          <a:xfrm>
            <a:off x="0" y="155200"/>
            <a:ext cx="9144003" cy="3053949"/>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27"/>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773" name="Google Shape;773;p127"/>
          <p:cNvPicPr preferRelativeResize="0"/>
          <p:nvPr/>
        </p:nvPicPr>
        <p:blipFill>
          <a:blip r:embed="rId3">
            <a:alphaModFix/>
          </a:blip>
          <a:stretch>
            <a:fillRect/>
          </a:stretch>
        </p:blipFill>
        <p:spPr>
          <a:xfrm>
            <a:off x="0" y="0"/>
            <a:ext cx="9095373" cy="279345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128"/>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Slide from: DeepLearning.ai</a:t>
            </a:r>
            <a:endParaRPr sz="1800">
              <a:solidFill>
                <a:schemeClr val="dk2"/>
              </a:solidFill>
            </a:endParaRPr>
          </a:p>
        </p:txBody>
      </p:sp>
      <p:pic>
        <p:nvPicPr>
          <p:cNvPr id="779" name="Google Shape;779;p128"/>
          <p:cNvPicPr preferRelativeResize="0"/>
          <p:nvPr/>
        </p:nvPicPr>
        <p:blipFill>
          <a:blip r:embed="rId3">
            <a:alphaModFix/>
          </a:blip>
          <a:stretch>
            <a:fillRect/>
          </a:stretch>
        </p:blipFill>
        <p:spPr>
          <a:xfrm>
            <a:off x="152400" y="152400"/>
            <a:ext cx="8839204" cy="4277173"/>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29"/>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785" name="Google Shape;785;p129"/>
          <p:cNvPicPr preferRelativeResize="0"/>
          <p:nvPr/>
        </p:nvPicPr>
        <p:blipFill>
          <a:blip r:embed="rId3">
            <a:alphaModFix/>
          </a:blip>
          <a:stretch>
            <a:fillRect/>
          </a:stretch>
        </p:blipFill>
        <p:spPr>
          <a:xfrm>
            <a:off x="1475225" y="479075"/>
            <a:ext cx="6605278" cy="4461800"/>
          </a:xfrm>
          <a:prstGeom prst="rect">
            <a:avLst/>
          </a:prstGeom>
          <a:noFill/>
          <a:ln>
            <a:noFill/>
          </a:ln>
        </p:spPr>
      </p:pic>
      <p:sp>
        <p:nvSpPr>
          <p:cNvPr id="786" name="Google Shape;786;p129"/>
          <p:cNvSpPr txBox="1"/>
          <p:nvPr/>
        </p:nvSpPr>
        <p:spPr>
          <a:xfrm>
            <a:off x="321250" y="105575"/>
            <a:ext cx="44277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500">
                <a:solidFill>
                  <a:schemeClr val="dk1"/>
                </a:solidFill>
              </a:rPr>
              <a:t>Unet</a:t>
            </a:r>
            <a:endParaRPr sz="25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0"/>
          <p:cNvSpPr txBox="1"/>
          <p:nvPr>
            <p:ph idx="1" type="body"/>
          </p:nvPr>
        </p:nvSpPr>
        <p:spPr>
          <a:xfrm>
            <a:off x="311700" y="1098225"/>
            <a:ext cx="8520600" cy="3416400"/>
          </a:xfrm>
          <a:prstGeom prst="rect">
            <a:avLst/>
          </a:prstGeom>
        </p:spPr>
        <p:txBody>
          <a:bodyPr anchorCtr="0" anchor="t" bIns="91425" lIns="91425" spcFirstLastPara="1" rIns="91425" wrap="square" tIns="91425">
            <a:normAutofit/>
          </a:bodyPr>
          <a:lstStyle/>
          <a:p>
            <a:pPr indent="-352425" lvl="0" marL="457200" rtl="0" algn="l">
              <a:spcBef>
                <a:spcPts val="0"/>
              </a:spcBef>
              <a:spcAft>
                <a:spcPts val="0"/>
              </a:spcAft>
              <a:buClr>
                <a:srgbClr val="4B5563"/>
              </a:buClr>
              <a:buSzPts val="1950"/>
              <a:buChar char="●"/>
            </a:pPr>
            <a:r>
              <a:rPr lang="en" sz="1950">
                <a:solidFill>
                  <a:srgbClr val="4B5563"/>
                </a:solidFill>
              </a:rPr>
              <a:t>Weighted by class loss </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Dice loss or separation border loss</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Gradient accumulation</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Data augmentation</a:t>
            </a:r>
            <a:endParaRPr sz="1950">
              <a:solidFill>
                <a:srgbClr val="4B5563"/>
              </a:solidFill>
            </a:endParaRPr>
          </a:p>
        </p:txBody>
      </p:sp>
      <p:sp>
        <p:nvSpPr>
          <p:cNvPr id="792" name="Google Shape;792;p1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rPr>
              <a:t>Unet </a:t>
            </a:r>
            <a:r>
              <a:rPr lang="en" sz="2500">
                <a:solidFill>
                  <a:schemeClr val="lt1"/>
                </a:solidFill>
              </a:rPr>
              <a:t>tricks</a:t>
            </a:r>
            <a:endParaRPr sz="2500">
              <a:solidFill>
                <a:schemeClr val="lt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1"/>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798" name="Google Shape;798;p131"/>
          <p:cNvPicPr preferRelativeResize="0"/>
          <p:nvPr/>
        </p:nvPicPr>
        <p:blipFill>
          <a:blip r:embed="rId3">
            <a:alphaModFix/>
          </a:blip>
          <a:stretch>
            <a:fillRect/>
          </a:stretch>
        </p:blipFill>
        <p:spPr>
          <a:xfrm>
            <a:off x="723162" y="671475"/>
            <a:ext cx="7697675" cy="2547700"/>
          </a:xfrm>
          <a:prstGeom prst="rect">
            <a:avLst/>
          </a:prstGeom>
          <a:noFill/>
          <a:ln>
            <a:noFill/>
          </a:ln>
        </p:spPr>
      </p:pic>
      <p:pic>
        <p:nvPicPr>
          <p:cNvPr id="799" name="Google Shape;799;p131"/>
          <p:cNvPicPr preferRelativeResize="0"/>
          <p:nvPr/>
        </p:nvPicPr>
        <p:blipFill>
          <a:blip r:embed="rId4">
            <a:alphaModFix/>
          </a:blip>
          <a:stretch>
            <a:fillRect/>
          </a:stretch>
        </p:blipFill>
        <p:spPr>
          <a:xfrm>
            <a:off x="4208725" y="3027750"/>
            <a:ext cx="2275063" cy="2067750"/>
          </a:xfrm>
          <a:prstGeom prst="rect">
            <a:avLst/>
          </a:prstGeom>
          <a:noFill/>
          <a:ln>
            <a:noFill/>
          </a:ln>
        </p:spPr>
      </p:pic>
      <p:sp>
        <p:nvSpPr>
          <p:cNvPr id="800" name="Google Shape;800;p131"/>
          <p:cNvSpPr txBox="1"/>
          <p:nvPr>
            <p:ph type="title"/>
          </p:nvPr>
        </p:nvSpPr>
        <p:spPr>
          <a:xfrm>
            <a:off x="54900" y="987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t>Unet tricks separation border loss</a:t>
            </a:r>
            <a:endParaRPr sz="25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32"/>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06" name="Google Shape;806;p132"/>
          <p:cNvSpPr txBox="1"/>
          <p:nvPr/>
        </p:nvSpPr>
        <p:spPr>
          <a:xfrm>
            <a:off x="103375" y="144475"/>
            <a:ext cx="44277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500">
                <a:solidFill>
                  <a:schemeClr val="dk1"/>
                </a:solidFill>
              </a:rPr>
              <a:t>Unet tricks</a:t>
            </a:r>
            <a:endParaRPr sz="25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807" name="Google Shape;807;p132"/>
          <p:cNvPicPr preferRelativeResize="0"/>
          <p:nvPr/>
        </p:nvPicPr>
        <p:blipFill>
          <a:blip r:embed="rId3">
            <a:alphaModFix/>
          </a:blip>
          <a:stretch>
            <a:fillRect/>
          </a:stretch>
        </p:blipFill>
        <p:spPr>
          <a:xfrm>
            <a:off x="554900" y="1122625"/>
            <a:ext cx="4302974" cy="3910875"/>
          </a:xfrm>
          <a:prstGeom prst="rect">
            <a:avLst/>
          </a:prstGeom>
          <a:noFill/>
          <a:ln>
            <a:noFill/>
          </a:ln>
        </p:spPr>
      </p:pic>
      <p:pic>
        <p:nvPicPr>
          <p:cNvPr id="808" name="Google Shape;808;p132"/>
          <p:cNvPicPr preferRelativeResize="0"/>
          <p:nvPr/>
        </p:nvPicPr>
        <p:blipFill>
          <a:blip r:embed="rId4">
            <a:alphaModFix/>
          </a:blip>
          <a:stretch>
            <a:fillRect/>
          </a:stretch>
        </p:blipFill>
        <p:spPr>
          <a:xfrm>
            <a:off x="3605020" y="144470"/>
            <a:ext cx="4515974" cy="780475"/>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33"/>
          <p:cNvSpPr txBox="1"/>
          <p:nvPr/>
        </p:nvSpPr>
        <p:spPr>
          <a:xfrm>
            <a:off x="144100" y="4766600"/>
            <a:ext cx="638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814" name="Google Shape;814;p133"/>
          <p:cNvSpPr txBox="1"/>
          <p:nvPr/>
        </p:nvSpPr>
        <p:spPr>
          <a:xfrm>
            <a:off x="103375" y="144475"/>
            <a:ext cx="44277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Dice Loss</a:t>
            </a:r>
            <a:endParaRPr sz="25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815" name="Google Shape;815;p133"/>
          <p:cNvPicPr preferRelativeResize="0"/>
          <p:nvPr/>
        </p:nvPicPr>
        <p:blipFill>
          <a:blip r:embed="rId3">
            <a:alphaModFix/>
          </a:blip>
          <a:stretch>
            <a:fillRect/>
          </a:stretch>
        </p:blipFill>
        <p:spPr>
          <a:xfrm>
            <a:off x="1288475" y="857125"/>
            <a:ext cx="6381021" cy="39438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rPr>
              <a:t>Unet tricks Gradient accumulation</a:t>
            </a:r>
            <a:endParaRPr sz="2500">
              <a:solidFill>
                <a:schemeClr val="lt1"/>
              </a:solidFill>
            </a:endParaRPr>
          </a:p>
        </p:txBody>
      </p:sp>
      <p:sp>
        <p:nvSpPr>
          <p:cNvPr id="821" name="Google Shape;821;p134"/>
          <p:cNvSpPr txBox="1"/>
          <p:nvPr>
            <p:ph idx="1" type="body"/>
          </p:nvPr>
        </p:nvSpPr>
        <p:spPr>
          <a:xfrm>
            <a:off x="311700" y="1098225"/>
            <a:ext cx="8520600" cy="3416400"/>
          </a:xfrm>
          <a:prstGeom prst="rect">
            <a:avLst/>
          </a:prstGeom>
        </p:spPr>
        <p:txBody>
          <a:bodyPr anchorCtr="0" anchor="t" bIns="91425" lIns="91425" spcFirstLastPara="1" rIns="91425" wrap="square" tIns="91425">
            <a:normAutofit/>
          </a:bodyPr>
          <a:lstStyle/>
          <a:p>
            <a:pPr indent="-352425" lvl="0" marL="457200" rtl="0" algn="l">
              <a:spcBef>
                <a:spcPts val="0"/>
              </a:spcBef>
              <a:spcAft>
                <a:spcPts val="0"/>
              </a:spcAft>
              <a:buClr>
                <a:srgbClr val="4B5563"/>
              </a:buClr>
              <a:buSzPts val="1950"/>
              <a:buChar char="●"/>
            </a:pPr>
            <a:r>
              <a:rPr lang="en" sz="1950">
                <a:solidFill>
                  <a:srgbClr val="4B5563"/>
                </a:solidFill>
              </a:rPr>
              <a:t>Simulates larger batch sizes by accumulating the gradients from multiple smaller batches before performing a weights update.</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Helps you work around the hardware limitations</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If the batch size that fits in memory is large enough, gradient accumulation is not necessary.</a:t>
            </a:r>
            <a:endParaRPr sz="1950">
              <a:solidFill>
                <a:srgbClr val="4B5563"/>
              </a:solidFill>
            </a:endParaRPr>
          </a:p>
          <a:p>
            <a:pPr indent="-352425" lvl="0" marL="457200" rtl="0" algn="l">
              <a:spcBef>
                <a:spcPts val="0"/>
              </a:spcBef>
              <a:spcAft>
                <a:spcPts val="0"/>
              </a:spcAft>
              <a:buClr>
                <a:srgbClr val="4B5563"/>
              </a:buClr>
              <a:buSzPts val="1950"/>
              <a:buChar char="●"/>
            </a:pPr>
            <a:r>
              <a:rPr lang="en" sz="1950">
                <a:solidFill>
                  <a:srgbClr val="4B5563"/>
                </a:solidFill>
              </a:rPr>
              <a:t>Unet uses a physical batch size of 1 </a:t>
            </a:r>
            <a:endParaRPr sz="1950">
              <a:solidFill>
                <a:srgbClr val="4B5563"/>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rPr>
              <a:t>Unet tricks Data Augmentation</a:t>
            </a:r>
            <a:endParaRPr sz="2500">
              <a:solidFill>
                <a:schemeClr val="lt1"/>
              </a:solidFill>
            </a:endParaRPr>
          </a:p>
        </p:txBody>
      </p:sp>
      <p:sp>
        <p:nvSpPr>
          <p:cNvPr id="827" name="Google Shape;827;p135"/>
          <p:cNvSpPr txBox="1"/>
          <p:nvPr>
            <p:ph idx="1" type="body"/>
          </p:nvPr>
        </p:nvSpPr>
        <p:spPr>
          <a:xfrm>
            <a:off x="311700" y="1098225"/>
            <a:ext cx="8520600" cy="3416400"/>
          </a:xfrm>
          <a:prstGeom prst="rect">
            <a:avLst/>
          </a:prstGeom>
        </p:spPr>
        <p:txBody>
          <a:bodyPr anchorCtr="0" anchor="t" bIns="91425" lIns="91425" spcFirstLastPara="1" rIns="91425" wrap="square" tIns="91425">
            <a:normAutofit fontScale="92500" lnSpcReduction="10000"/>
          </a:bodyPr>
          <a:lstStyle/>
          <a:p>
            <a:pPr indent="-343138" lvl="0" marL="457200" rtl="0" algn="l">
              <a:spcBef>
                <a:spcPts val="0"/>
              </a:spcBef>
              <a:spcAft>
                <a:spcPts val="0"/>
              </a:spcAft>
              <a:buClr>
                <a:srgbClr val="4B5563"/>
              </a:buClr>
              <a:buSzPct val="100000"/>
              <a:buChar char="●"/>
            </a:pPr>
            <a:r>
              <a:rPr lang="en" sz="1950">
                <a:solidFill>
                  <a:srgbClr val="4B5563"/>
                </a:solidFill>
              </a:rPr>
              <a:t>The training samples used where only 30 but through data augmentation sufficient results were </a:t>
            </a:r>
            <a:r>
              <a:rPr lang="en" sz="1950">
                <a:solidFill>
                  <a:srgbClr val="4B5563"/>
                </a:solidFill>
              </a:rPr>
              <a:t>achieved</a:t>
            </a:r>
            <a:endParaRPr sz="1950">
              <a:solidFill>
                <a:srgbClr val="4B5563"/>
              </a:solidFill>
            </a:endParaRPr>
          </a:p>
          <a:p>
            <a:pPr indent="-343138" lvl="0" marL="457200" rtl="0" algn="l">
              <a:spcBef>
                <a:spcPts val="0"/>
              </a:spcBef>
              <a:spcAft>
                <a:spcPts val="0"/>
              </a:spcAft>
              <a:buClr>
                <a:srgbClr val="4B5563"/>
              </a:buClr>
              <a:buSzPct val="100000"/>
              <a:buChar char="●"/>
            </a:pPr>
            <a:r>
              <a:rPr lang="en" sz="1950">
                <a:solidFill>
                  <a:srgbClr val="4B5563"/>
                </a:solidFill>
              </a:rPr>
              <a:t>“In case of 6 microscopical images we primarily need shift and rotation invariance as well as robustness to deformations and gray value variations. Especially random elastic deformations of the training samples seem to be the key concept to train a segmentation network with very few annotated images. We generate smooth deformations using random displacement vectors on a coarse 3 by 3 grid. The displacements are sampled from a Gaussian distribution with 10 pixels standard deviation. Per-pixel displacements are then computed using bicubic interpolation. Drop-out layers at the end of the contracting path perform further implicit data augmentation.”</a:t>
            </a:r>
            <a:endParaRPr sz="1950">
              <a:solidFill>
                <a:srgbClr val="4B5563"/>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rPr>
              <a:t>Unet Results</a:t>
            </a:r>
            <a:endParaRPr sz="2500">
              <a:solidFill>
                <a:schemeClr val="lt1"/>
              </a:solidFill>
            </a:endParaRPr>
          </a:p>
        </p:txBody>
      </p:sp>
      <p:pic>
        <p:nvPicPr>
          <p:cNvPr id="833" name="Google Shape;833;p136"/>
          <p:cNvPicPr preferRelativeResize="0"/>
          <p:nvPr/>
        </p:nvPicPr>
        <p:blipFill>
          <a:blip r:embed="rId3">
            <a:alphaModFix/>
          </a:blip>
          <a:stretch>
            <a:fillRect/>
          </a:stretch>
        </p:blipFill>
        <p:spPr>
          <a:xfrm>
            <a:off x="152400" y="1170125"/>
            <a:ext cx="8839200" cy="354240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1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rPr>
              <a:t>Unet Results</a:t>
            </a:r>
            <a:endParaRPr sz="2500">
              <a:solidFill>
                <a:schemeClr val="lt1"/>
              </a:solidFill>
            </a:endParaRPr>
          </a:p>
        </p:txBody>
      </p:sp>
      <p:pic>
        <p:nvPicPr>
          <p:cNvPr id="839" name="Google Shape;839;p137"/>
          <p:cNvPicPr preferRelativeResize="0"/>
          <p:nvPr/>
        </p:nvPicPr>
        <p:blipFill>
          <a:blip r:embed="rId3">
            <a:alphaModFix/>
          </a:blip>
          <a:stretch>
            <a:fillRect/>
          </a:stretch>
        </p:blipFill>
        <p:spPr>
          <a:xfrm>
            <a:off x="152400" y="1255725"/>
            <a:ext cx="8839199" cy="2803953"/>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138"/>
          <p:cNvSpPr txBox="1"/>
          <p:nvPr>
            <p:ph type="title"/>
          </p:nvPr>
        </p:nvSpPr>
        <p:spPr>
          <a:xfrm>
            <a:off x="302700" y="1932025"/>
            <a:ext cx="8538600" cy="1199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600">
                <a:solidFill>
                  <a:schemeClr val="lt1"/>
                </a:solidFill>
              </a:rPr>
              <a:t>Questions?</a:t>
            </a:r>
            <a:endParaRPr sz="36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